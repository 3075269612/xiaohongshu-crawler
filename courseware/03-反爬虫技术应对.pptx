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368" r:id="rId2"/>
    <p:sldId id="369" r:id="rId3"/>
    <p:sldId id="370" r:id="rId4"/>
    <p:sldId id="371" r:id="rId5"/>
    <p:sldId id="372" r:id="rId6"/>
    <p:sldId id="373" r:id="rId7"/>
    <p:sldId id="374" r:id="rId8"/>
    <p:sldId id="375" r:id="rId9"/>
    <p:sldId id="376" r:id="rId10"/>
    <p:sldId id="377" r:id="rId11"/>
    <p:sldId id="378" r:id="rId12"/>
    <p:sldId id="361" r:id="rId13"/>
    <p:sldId id="379" r:id="rId14"/>
    <p:sldId id="342" r:id="rId15"/>
    <p:sldId id="352" r:id="rId16"/>
    <p:sldId id="380" r:id="rId17"/>
    <p:sldId id="381" r:id="rId18"/>
    <p:sldId id="382" r:id="rId19"/>
    <p:sldId id="383" r:id="rId20"/>
    <p:sldId id="384" r:id="rId21"/>
    <p:sldId id="385" r:id="rId22"/>
    <p:sldId id="386" r:id="rId23"/>
    <p:sldId id="387" r:id="rId24"/>
    <p:sldId id="388" r:id="rId25"/>
    <p:sldId id="389" r:id="rId26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6371"/>
    <a:srgbClr val="00CEEA"/>
    <a:srgbClr val="D9FAFF"/>
    <a:srgbClr val="BDFFFD"/>
    <a:srgbClr val="01A1B7"/>
    <a:srgbClr val="02B6CE"/>
    <a:srgbClr val="018091"/>
    <a:srgbClr val="018A9D"/>
    <a:srgbClr val="ADFDF0"/>
    <a:srgbClr val="57FB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186" autoAdjust="0"/>
    <p:restoredTop sz="75170" autoAdjust="0"/>
  </p:normalViewPr>
  <p:slideViewPr>
    <p:cSldViewPr snapToGrid="0">
      <p:cViewPr varScale="1">
        <p:scale>
          <a:sx n="66" d="100"/>
          <a:sy n="66" d="100"/>
        </p:scale>
        <p:origin x="1191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CD39DD-DA48-48EB-BF0E-974F06DD747B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E430CC-CF76-4512-9E43-F5E43EF3EE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E430CC-CF76-4512-9E43-F5E43EF3EED8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>
      <p:transition spd="slow" advClick="0" advTm="2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slideLayout" Target="../slideLayouts/slideLayout12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2" Type="http://schemas.openxmlformats.org/officeDocument/2006/relationships/tags" Target="../tags/tag3.xml"/><Relationship Id="rId16" Type="http://schemas.openxmlformats.org/officeDocument/2006/relationships/image" Target="../media/image3.jpe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image" Target="../media/image2.png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 flipH="1">
            <a:off x="0" y="0"/>
            <a:ext cx="12192000" cy="6858001"/>
            <a:chOff x="2" y="0"/>
            <a:chExt cx="12192000" cy="6858001"/>
          </a:xfrm>
        </p:grpSpPr>
        <p:grpSp>
          <p:nvGrpSpPr>
            <p:cNvPr id="5" name="组合 4"/>
            <p:cNvGrpSpPr/>
            <p:nvPr/>
          </p:nvGrpSpPr>
          <p:grpSpPr>
            <a:xfrm>
              <a:off x="2" y="0"/>
              <a:ext cx="3135084" cy="5941181"/>
              <a:chOff x="0" y="0"/>
              <a:chExt cx="2590667" cy="4976958"/>
            </a:xfrm>
          </p:grpSpPr>
          <p:sp>
            <p:nvSpPr>
              <p:cNvPr id="9" name="矩形 1"/>
              <p:cNvSpPr/>
              <p:nvPr/>
            </p:nvSpPr>
            <p:spPr>
              <a:xfrm>
                <a:off x="0" y="0"/>
                <a:ext cx="2590667" cy="4976958"/>
              </a:xfrm>
              <a:custGeom>
                <a:avLst/>
                <a:gdLst>
                  <a:gd name="connsiteX0" fmla="*/ 0 w 2278743"/>
                  <a:gd name="connsiteY0" fmla="*/ 0 h 3689577"/>
                  <a:gd name="connsiteX1" fmla="*/ 2278743 w 2278743"/>
                  <a:gd name="connsiteY1" fmla="*/ 0 h 3689577"/>
                  <a:gd name="connsiteX2" fmla="*/ 2278743 w 2278743"/>
                  <a:gd name="connsiteY2" fmla="*/ 3689577 h 3689577"/>
                  <a:gd name="connsiteX3" fmla="*/ 0 w 2278743"/>
                  <a:gd name="connsiteY3" fmla="*/ 3689577 h 3689577"/>
                  <a:gd name="connsiteX4" fmla="*/ 0 w 2278743"/>
                  <a:gd name="connsiteY4" fmla="*/ 0 h 3689577"/>
                  <a:gd name="connsiteX0-1" fmla="*/ 0 w 2278743"/>
                  <a:gd name="connsiteY0-2" fmla="*/ 0 h 3689577"/>
                  <a:gd name="connsiteX1-3" fmla="*/ 2278743 w 2278743"/>
                  <a:gd name="connsiteY1-4" fmla="*/ 0 h 3689577"/>
                  <a:gd name="connsiteX2-5" fmla="*/ 0 w 2278743"/>
                  <a:gd name="connsiteY2-6" fmla="*/ 3689577 h 3689577"/>
                  <a:gd name="connsiteX3-7" fmla="*/ 0 w 2278743"/>
                  <a:gd name="connsiteY3-8" fmla="*/ 0 h 3689577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2278743" h="3689577">
                    <a:moveTo>
                      <a:pt x="0" y="0"/>
                    </a:moveTo>
                    <a:lnTo>
                      <a:pt x="2278743" y="0"/>
                    </a:lnTo>
                    <a:lnTo>
                      <a:pt x="0" y="36895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8A9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cs typeface="+mn-ea"/>
                  <a:sym typeface="+mn-lt"/>
                </a:endParaRPr>
              </a:p>
            </p:txBody>
          </p:sp>
          <p:sp>
            <p:nvSpPr>
              <p:cNvPr id="10" name="矩形 1"/>
              <p:cNvSpPr/>
              <p:nvPr/>
            </p:nvSpPr>
            <p:spPr>
              <a:xfrm>
                <a:off x="0" y="0"/>
                <a:ext cx="2590667" cy="3689577"/>
              </a:xfrm>
              <a:custGeom>
                <a:avLst/>
                <a:gdLst>
                  <a:gd name="connsiteX0" fmla="*/ 0 w 2278743"/>
                  <a:gd name="connsiteY0" fmla="*/ 0 h 3689577"/>
                  <a:gd name="connsiteX1" fmla="*/ 2278743 w 2278743"/>
                  <a:gd name="connsiteY1" fmla="*/ 0 h 3689577"/>
                  <a:gd name="connsiteX2" fmla="*/ 2278743 w 2278743"/>
                  <a:gd name="connsiteY2" fmla="*/ 3689577 h 3689577"/>
                  <a:gd name="connsiteX3" fmla="*/ 0 w 2278743"/>
                  <a:gd name="connsiteY3" fmla="*/ 3689577 h 3689577"/>
                  <a:gd name="connsiteX4" fmla="*/ 0 w 2278743"/>
                  <a:gd name="connsiteY4" fmla="*/ 0 h 3689577"/>
                  <a:gd name="connsiteX0-1" fmla="*/ 0 w 2278743"/>
                  <a:gd name="connsiteY0-2" fmla="*/ 0 h 3689577"/>
                  <a:gd name="connsiteX1-3" fmla="*/ 2278743 w 2278743"/>
                  <a:gd name="connsiteY1-4" fmla="*/ 0 h 3689577"/>
                  <a:gd name="connsiteX2-5" fmla="*/ 0 w 2278743"/>
                  <a:gd name="connsiteY2-6" fmla="*/ 3689577 h 3689577"/>
                  <a:gd name="connsiteX3-7" fmla="*/ 0 w 2278743"/>
                  <a:gd name="connsiteY3-8" fmla="*/ 0 h 3689577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2278743" h="3689577">
                    <a:moveTo>
                      <a:pt x="0" y="0"/>
                    </a:moveTo>
                    <a:lnTo>
                      <a:pt x="2278743" y="0"/>
                    </a:lnTo>
                    <a:lnTo>
                      <a:pt x="0" y="36895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63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cs typeface="+mn-ea"/>
                  <a:sym typeface="+mn-lt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9463315" y="1664306"/>
              <a:ext cx="2728687" cy="5193695"/>
              <a:chOff x="7715421" y="1884933"/>
              <a:chExt cx="1428579" cy="3258567"/>
            </a:xfrm>
          </p:grpSpPr>
          <p:sp>
            <p:nvSpPr>
              <p:cNvPr id="7" name="矩形 10"/>
              <p:cNvSpPr/>
              <p:nvPr/>
            </p:nvSpPr>
            <p:spPr>
              <a:xfrm>
                <a:off x="7715421" y="1884933"/>
                <a:ext cx="1428579" cy="3258567"/>
              </a:xfrm>
              <a:custGeom>
                <a:avLst/>
                <a:gdLst>
                  <a:gd name="connsiteX0" fmla="*/ 0 w 2278743"/>
                  <a:gd name="connsiteY0" fmla="*/ 0 h 3689577"/>
                  <a:gd name="connsiteX1" fmla="*/ 2278743 w 2278743"/>
                  <a:gd name="connsiteY1" fmla="*/ 0 h 3689577"/>
                  <a:gd name="connsiteX2" fmla="*/ 2278743 w 2278743"/>
                  <a:gd name="connsiteY2" fmla="*/ 3689577 h 3689577"/>
                  <a:gd name="connsiteX3" fmla="*/ 0 w 2278743"/>
                  <a:gd name="connsiteY3" fmla="*/ 3689577 h 3689577"/>
                  <a:gd name="connsiteX4" fmla="*/ 0 w 2278743"/>
                  <a:gd name="connsiteY4" fmla="*/ 0 h 3689577"/>
                  <a:gd name="connsiteX0-1" fmla="*/ 0 w 2278743"/>
                  <a:gd name="connsiteY0-2" fmla="*/ 3689577 h 3689577"/>
                  <a:gd name="connsiteX1-3" fmla="*/ 2278743 w 2278743"/>
                  <a:gd name="connsiteY1-4" fmla="*/ 0 h 3689577"/>
                  <a:gd name="connsiteX2-5" fmla="*/ 2278743 w 2278743"/>
                  <a:gd name="connsiteY2-6" fmla="*/ 3689577 h 3689577"/>
                  <a:gd name="connsiteX3-7" fmla="*/ 0 w 2278743"/>
                  <a:gd name="connsiteY3-8" fmla="*/ 3689577 h 3689577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2278743" h="3689577">
                    <a:moveTo>
                      <a:pt x="0" y="3689577"/>
                    </a:moveTo>
                    <a:lnTo>
                      <a:pt x="2278743" y="0"/>
                    </a:lnTo>
                    <a:lnTo>
                      <a:pt x="2278743" y="3689577"/>
                    </a:lnTo>
                    <a:lnTo>
                      <a:pt x="0" y="3689577"/>
                    </a:lnTo>
                    <a:close/>
                  </a:path>
                </a:pathLst>
              </a:custGeom>
              <a:solidFill>
                <a:srgbClr val="018A9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cs typeface="+mn-ea"/>
                  <a:sym typeface="+mn-lt"/>
                </a:endParaRPr>
              </a:p>
            </p:txBody>
          </p:sp>
          <p:sp>
            <p:nvSpPr>
              <p:cNvPr id="8" name="矩形 10"/>
              <p:cNvSpPr/>
              <p:nvPr/>
            </p:nvSpPr>
            <p:spPr>
              <a:xfrm>
                <a:off x="7715421" y="2606134"/>
                <a:ext cx="1428579" cy="2537366"/>
              </a:xfrm>
              <a:custGeom>
                <a:avLst/>
                <a:gdLst>
                  <a:gd name="connsiteX0" fmla="*/ 0 w 2278743"/>
                  <a:gd name="connsiteY0" fmla="*/ 0 h 3689577"/>
                  <a:gd name="connsiteX1" fmla="*/ 2278743 w 2278743"/>
                  <a:gd name="connsiteY1" fmla="*/ 0 h 3689577"/>
                  <a:gd name="connsiteX2" fmla="*/ 2278743 w 2278743"/>
                  <a:gd name="connsiteY2" fmla="*/ 3689577 h 3689577"/>
                  <a:gd name="connsiteX3" fmla="*/ 0 w 2278743"/>
                  <a:gd name="connsiteY3" fmla="*/ 3689577 h 3689577"/>
                  <a:gd name="connsiteX4" fmla="*/ 0 w 2278743"/>
                  <a:gd name="connsiteY4" fmla="*/ 0 h 3689577"/>
                  <a:gd name="connsiteX0-1" fmla="*/ 0 w 2278743"/>
                  <a:gd name="connsiteY0-2" fmla="*/ 3689577 h 3689577"/>
                  <a:gd name="connsiteX1-3" fmla="*/ 2278743 w 2278743"/>
                  <a:gd name="connsiteY1-4" fmla="*/ 0 h 3689577"/>
                  <a:gd name="connsiteX2-5" fmla="*/ 2278743 w 2278743"/>
                  <a:gd name="connsiteY2-6" fmla="*/ 3689577 h 3689577"/>
                  <a:gd name="connsiteX3-7" fmla="*/ 0 w 2278743"/>
                  <a:gd name="connsiteY3-8" fmla="*/ 3689577 h 3689577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2278743" h="3689577">
                    <a:moveTo>
                      <a:pt x="0" y="3689577"/>
                    </a:moveTo>
                    <a:lnTo>
                      <a:pt x="2278743" y="0"/>
                    </a:lnTo>
                    <a:lnTo>
                      <a:pt x="2278743" y="3689577"/>
                    </a:lnTo>
                    <a:lnTo>
                      <a:pt x="0" y="3689577"/>
                    </a:lnTo>
                    <a:close/>
                  </a:path>
                </a:pathLst>
              </a:custGeom>
              <a:solidFill>
                <a:srgbClr val="0163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11" name="文本框 10"/>
          <p:cNvSpPr txBox="1"/>
          <p:nvPr/>
        </p:nvSpPr>
        <p:spPr>
          <a:xfrm>
            <a:off x="1028700" y="2813685"/>
            <a:ext cx="98653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800" b="1">
                <a:gradFill flip="none" rotWithShape="1">
                  <a:gsLst>
                    <a:gs pos="53000">
                      <a:srgbClr val="FFC000"/>
                    </a:gs>
                    <a:gs pos="84000">
                      <a:schemeClr val="accent6">
                        <a:lumMod val="0"/>
                        <a:lumOff val="100000"/>
                      </a:schemeClr>
                    </a:gs>
                    <a:gs pos="20000">
                      <a:srgbClr val="FF9900"/>
                    </a:gs>
                  </a:gsLst>
                  <a:lin ang="16200000" scaled="1"/>
                  <a:tileRect/>
                </a:gradFill>
                <a:effectLst>
                  <a:outerShdw blurRad="101600" dist="38100" dir="5400000" algn="t" rotWithShape="0">
                    <a:prstClr val="black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40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lt"/>
              </a:rPr>
              <a:t>反爬虫技术介绍及应对方法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1515745" y="3539490"/>
            <a:ext cx="8890635" cy="0"/>
          </a:xfrm>
          <a:prstGeom prst="line">
            <a:avLst/>
          </a:prstGeom>
          <a:ln w="952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3904994" y="4230741"/>
            <a:ext cx="4417643" cy="401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AI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程序设计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62" y="222267"/>
            <a:ext cx="2333625" cy="74295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5040886" y="6184540"/>
            <a:ext cx="214657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202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6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.</a:t>
            </a:r>
            <a:r>
              <a:rPr lang="en-US" altLang="zh-CN" sz="1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07</a:t>
            </a:r>
            <a:endParaRPr lang="en-US" sz="1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1"/>
          <p:cNvSpPr/>
          <p:nvPr/>
        </p:nvSpPr>
        <p:spPr>
          <a:xfrm>
            <a:off x="1" y="2468894"/>
            <a:ext cx="6777865" cy="3360372"/>
          </a:xfrm>
          <a:custGeom>
            <a:avLst/>
            <a:gdLst>
              <a:gd name="connsiteX0" fmla="*/ 0 w 4211960"/>
              <a:gd name="connsiteY0" fmla="*/ 0 h 2088232"/>
              <a:gd name="connsiteX1" fmla="*/ 4211960 w 4211960"/>
              <a:gd name="connsiteY1" fmla="*/ 0 h 2088232"/>
              <a:gd name="connsiteX2" fmla="*/ 4211960 w 4211960"/>
              <a:gd name="connsiteY2" fmla="*/ 2088232 h 2088232"/>
              <a:gd name="connsiteX3" fmla="*/ 0 w 4211960"/>
              <a:gd name="connsiteY3" fmla="*/ 2088232 h 2088232"/>
              <a:gd name="connsiteX4" fmla="*/ 0 w 4211960"/>
              <a:gd name="connsiteY4" fmla="*/ 0 h 2088232"/>
              <a:gd name="connsiteX0-1" fmla="*/ 0 w 4211960"/>
              <a:gd name="connsiteY0-2" fmla="*/ 0 h 2088232"/>
              <a:gd name="connsiteX1-3" fmla="*/ 3101133 w 4211960"/>
              <a:gd name="connsiteY1-4" fmla="*/ 0 h 2088232"/>
              <a:gd name="connsiteX2-5" fmla="*/ 4211960 w 4211960"/>
              <a:gd name="connsiteY2-6" fmla="*/ 2088232 h 2088232"/>
              <a:gd name="connsiteX3-7" fmla="*/ 0 w 4211960"/>
              <a:gd name="connsiteY3-8" fmla="*/ 2088232 h 2088232"/>
              <a:gd name="connsiteX4-9" fmla="*/ 0 w 4211960"/>
              <a:gd name="connsiteY4-10" fmla="*/ 0 h 20882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211960" h="2088232">
                <a:moveTo>
                  <a:pt x="0" y="0"/>
                </a:moveTo>
                <a:lnTo>
                  <a:pt x="3101133" y="0"/>
                </a:lnTo>
                <a:lnTo>
                  <a:pt x="4211960" y="2088232"/>
                </a:lnTo>
                <a:lnTo>
                  <a:pt x="0" y="2088232"/>
                </a:lnTo>
                <a:lnTo>
                  <a:pt x="0" y="0"/>
                </a:lnTo>
                <a:close/>
              </a:path>
            </a:pathLst>
          </a:custGeom>
          <a:solidFill>
            <a:srgbClr val="0163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5" name="Group 32" hidden="1"/>
          <p:cNvGrpSpPr/>
          <p:nvPr/>
        </p:nvGrpSpPr>
        <p:grpSpPr>
          <a:xfrm>
            <a:off x="0" y="1943976"/>
            <a:ext cx="10573704" cy="1670827"/>
            <a:chOff x="-41328" y="1943975"/>
            <a:chExt cx="11361717" cy="1670826"/>
          </a:xfrm>
        </p:grpSpPr>
        <p:cxnSp>
          <p:nvCxnSpPr>
            <p:cNvPr id="46" name="Straight Connector 10"/>
            <p:cNvCxnSpPr>
              <a:stCxn id="42" idx="0"/>
            </p:cNvCxnSpPr>
            <p:nvPr/>
          </p:nvCxnSpPr>
          <p:spPr>
            <a:xfrm>
              <a:off x="-41328" y="2468892"/>
              <a:ext cx="2007072" cy="1145909"/>
            </a:xfrm>
            <a:prstGeom prst="line">
              <a:avLst/>
            </a:prstGeom>
            <a:ln w="12700" cap="flat" cmpd="sng" algn="ctr">
              <a:solidFill>
                <a:schemeClr val="accent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13"/>
            <p:cNvCxnSpPr/>
            <p:nvPr/>
          </p:nvCxnSpPr>
          <p:spPr>
            <a:xfrm>
              <a:off x="1897934" y="1943975"/>
              <a:ext cx="1044715" cy="1051258"/>
            </a:xfrm>
            <a:prstGeom prst="line">
              <a:avLst/>
            </a:prstGeom>
            <a:ln w="12700" cap="flat" cmpd="sng" algn="ctr">
              <a:solidFill>
                <a:schemeClr val="accent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18"/>
            <p:cNvCxnSpPr/>
            <p:nvPr/>
          </p:nvCxnSpPr>
          <p:spPr>
            <a:xfrm flipH="1">
              <a:off x="2940929" y="1943975"/>
              <a:ext cx="1046634" cy="1052977"/>
            </a:xfrm>
            <a:prstGeom prst="line">
              <a:avLst/>
            </a:prstGeom>
            <a:ln w="12700" cap="flat" cmpd="sng" algn="ctr">
              <a:solidFill>
                <a:schemeClr val="accent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23"/>
            <p:cNvCxnSpPr/>
            <p:nvPr/>
          </p:nvCxnSpPr>
          <p:spPr>
            <a:xfrm>
              <a:off x="3992369" y="1943975"/>
              <a:ext cx="1044715" cy="1051258"/>
            </a:xfrm>
            <a:prstGeom prst="line">
              <a:avLst/>
            </a:prstGeom>
            <a:ln w="12700" cap="flat" cmpd="sng" algn="ctr">
              <a:solidFill>
                <a:schemeClr val="accent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24"/>
            <p:cNvCxnSpPr/>
            <p:nvPr/>
          </p:nvCxnSpPr>
          <p:spPr>
            <a:xfrm flipH="1">
              <a:off x="5035364" y="1943975"/>
              <a:ext cx="1046634" cy="1052977"/>
            </a:xfrm>
            <a:prstGeom prst="line">
              <a:avLst/>
            </a:prstGeom>
            <a:ln w="12700" cap="flat" cmpd="sng" algn="ctr">
              <a:solidFill>
                <a:schemeClr val="accent3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25"/>
            <p:cNvCxnSpPr/>
            <p:nvPr/>
          </p:nvCxnSpPr>
          <p:spPr>
            <a:xfrm>
              <a:off x="6086804" y="1943975"/>
              <a:ext cx="1044715" cy="1051258"/>
            </a:xfrm>
            <a:prstGeom prst="line">
              <a:avLst/>
            </a:prstGeom>
            <a:ln w="12700" cap="flat" cmpd="sng" algn="ctr">
              <a:solidFill>
                <a:schemeClr val="accent3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26"/>
            <p:cNvCxnSpPr/>
            <p:nvPr/>
          </p:nvCxnSpPr>
          <p:spPr>
            <a:xfrm flipH="1">
              <a:off x="7129799" y="1943975"/>
              <a:ext cx="1046634" cy="1052977"/>
            </a:xfrm>
            <a:prstGeom prst="line">
              <a:avLst/>
            </a:prstGeom>
            <a:ln w="12700" cap="flat" cmpd="sng" algn="ctr">
              <a:solidFill>
                <a:schemeClr val="accent4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27"/>
            <p:cNvCxnSpPr/>
            <p:nvPr/>
          </p:nvCxnSpPr>
          <p:spPr>
            <a:xfrm>
              <a:off x="8181239" y="1943975"/>
              <a:ext cx="1044715" cy="1051258"/>
            </a:xfrm>
            <a:prstGeom prst="line">
              <a:avLst/>
            </a:prstGeom>
            <a:ln w="12700" cap="flat" cmpd="sng" algn="ctr">
              <a:solidFill>
                <a:schemeClr val="accent4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28"/>
            <p:cNvCxnSpPr/>
            <p:nvPr/>
          </p:nvCxnSpPr>
          <p:spPr>
            <a:xfrm flipH="1">
              <a:off x="9224234" y="1943975"/>
              <a:ext cx="1046634" cy="1052977"/>
            </a:xfrm>
            <a:prstGeom prst="line">
              <a:avLst/>
            </a:prstGeom>
            <a:ln w="12700" cap="flat" cmpd="sng" algn="ctr">
              <a:solidFill>
                <a:schemeClr val="accent5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29"/>
            <p:cNvCxnSpPr/>
            <p:nvPr/>
          </p:nvCxnSpPr>
          <p:spPr>
            <a:xfrm>
              <a:off x="10275674" y="1943975"/>
              <a:ext cx="1044715" cy="1051258"/>
            </a:xfrm>
            <a:prstGeom prst="line">
              <a:avLst/>
            </a:prstGeom>
            <a:ln w="12700" cap="flat" cmpd="sng" algn="ctr">
              <a:solidFill>
                <a:schemeClr val="accent5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矩形 1"/>
          <p:cNvSpPr/>
          <p:nvPr/>
        </p:nvSpPr>
        <p:spPr>
          <a:xfrm>
            <a:off x="0" y="1892830"/>
            <a:ext cx="5615947" cy="2784309"/>
          </a:xfrm>
          <a:custGeom>
            <a:avLst/>
            <a:gdLst>
              <a:gd name="connsiteX0" fmla="*/ 0 w 4211960"/>
              <a:gd name="connsiteY0" fmla="*/ 0 h 2088232"/>
              <a:gd name="connsiteX1" fmla="*/ 4211960 w 4211960"/>
              <a:gd name="connsiteY1" fmla="*/ 0 h 2088232"/>
              <a:gd name="connsiteX2" fmla="*/ 4211960 w 4211960"/>
              <a:gd name="connsiteY2" fmla="*/ 2088232 h 2088232"/>
              <a:gd name="connsiteX3" fmla="*/ 0 w 4211960"/>
              <a:gd name="connsiteY3" fmla="*/ 2088232 h 2088232"/>
              <a:gd name="connsiteX4" fmla="*/ 0 w 4211960"/>
              <a:gd name="connsiteY4" fmla="*/ 0 h 2088232"/>
              <a:gd name="connsiteX0-1" fmla="*/ 0 w 4211960"/>
              <a:gd name="connsiteY0-2" fmla="*/ 0 h 2088232"/>
              <a:gd name="connsiteX1-3" fmla="*/ 3101133 w 4211960"/>
              <a:gd name="connsiteY1-4" fmla="*/ 0 h 2088232"/>
              <a:gd name="connsiteX2-5" fmla="*/ 4211960 w 4211960"/>
              <a:gd name="connsiteY2-6" fmla="*/ 2088232 h 2088232"/>
              <a:gd name="connsiteX3-7" fmla="*/ 0 w 4211960"/>
              <a:gd name="connsiteY3-8" fmla="*/ 2088232 h 2088232"/>
              <a:gd name="connsiteX4-9" fmla="*/ 0 w 4211960"/>
              <a:gd name="connsiteY4-10" fmla="*/ 0 h 20882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211960" h="2088232">
                <a:moveTo>
                  <a:pt x="0" y="0"/>
                </a:moveTo>
                <a:lnTo>
                  <a:pt x="3101133" y="0"/>
                </a:lnTo>
                <a:lnTo>
                  <a:pt x="4211960" y="2088232"/>
                </a:lnTo>
                <a:lnTo>
                  <a:pt x="0" y="208823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57" name="Group 5"/>
          <p:cNvGrpSpPr/>
          <p:nvPr>
            <p:custDataLst>
              <p:tags r:id="rId1"/>
            </p:custDataLst>
          </p:nvPr>
        </p:nvGrpSpPr>
        <p:grpSpPr>
          <a:xfrm>
            <a:off x="7334687" y="1111728"/>
            <a:ext cx="4477601" cy="707887"/>
            <a:chOff x="1598315" y="1418185"/>
            <a:chExt cx="4477601" cy="707886"/>
          </a:xfrm>
        </p:grpSpPr>
        <p:sp>
          <p:nvSpPr>
            <p:cNvPr id="58" name="TextBox 6"/>
            <p:cNvSpPr txBox="1"/>
            <p:nvPr>
              <p:custDataLst>
                <p:tags r:id="rId11"/>
              </p:custDataLst>
            </p:nvPr>
          </p:nvSpPr>
          <p:spPr>
            <a:xfrm>
              <a:off x="1598315" y="1418185"/>
              <a:ext cx="655949" cy="707886"/>
            </a:xfrm>
            <a:prstGeom prst="rect">
              <a:avLst/>
            </a:prstGeom>
            <a:noFill/>
          </p:spPr>
          <p:txBody>
            <a:bodyPr wrap="none" anchor="ctr">
              <a:normAutofit fontScale="85000" lnSpcReduction="20000"/>
            </a:bodyPr>
            <a:lstStyle/>
            <a:p>
              <a:r>
                <a:rPr lang="en-US" altLang="zh-CN" sz="5335" dirty="0">
                  <a:solidFill>
                    <a:srgbClr val="016371"/>
                  </a:solidFill>
                  <a:latin typeface="Stencil Std" panose="04020904080802020404" pitchFamily="82" charset="0"/>
                  <a:ea typeface="方正黑体简体" panose="02010601030101010101" pitchFamily="2" charset="-122"/>
                </a:rPr>
                <a:t>01</a:t>
              </a:r>
            </a:p>
          </p:txBody>
        </p:sp>
        <p:sp>
          <p:nvSpPr>
            <p:cNvPr id="60" name="TextBox 8"/>
            <p:cNvSpPr txBox="1"/>
            <p:nvPr>
              <p:custDataLst>
                <p:tags r:id="rId12"/>
              </p:custDataLst>
            </p:nvPr>
          </p:nvSpPr>
          <p:spPr>
            <a:xfrm>
              <a:off x="2113342" y="1509514"/>
              <a:ext cx="3962574" cy="525227"/>
            </a:xfrm>
            <a:prstGeom prst="rect">
              <a:avLst/>
            </a:prstGeom>
            <a:noFill/>
          </p:spPr>
          <p:txBody>
            <a:bodyPr wrap="none" lIns="480000" tIns="0" rIns="0" bIns="0" anchor="b" anchorCtr="0">
              <a:noAutofit/>
            </a:bodyPr>
            <a:lstStyle/>
            <a:p>
              <a:r>
                <a:rPr lang="zh-CN" altLang="en-US" sz="2665" dirty="0">
                  <a:solidFill>
                    <a:srgbClr val="01637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学习目标</a:t>
              </a:r>
            </a:p>
          </p:txBody>
        </p:sp>
      </p:grpSp>
      <p:grpSp>
        <p:nvGrpSpPr>
          <p:cNvPr id="64" name="Group 10"/>
          <p:cNvGrpSpPr/>
          <p:nvPr>
            <p:custDataLst>
              <p:tags r:id="rId2"/>
            </p:custDataLst>
          </p:nvPr>
        </p:nvGrpSpPr>
        <p:grpSpPr>
          <a:xfrm>
            <a:off x="7356350" y="2359197"/>
            <a:ext cx="3767777" cy="707889"/>
            <a:chOff x="1573003" y="2960430"/>
            <a:chExt cx="3767778" cy="707887"/>
          </a:xfrm>
        </p:grpSpPr>
        <p:sp>
          <p:nvSpPr>
            <p:cNvPr id="65" name="TextBox 11"/>
            <p:cNvSpPr txBox="1"/>
            <p:nvPr>
              <p:custDataLst>
                <p:tags r:id="rId9"/>
              </p:custDataLst>
            </p:nvPr>
          </p:nvSpPr>
          <p:spPr>
            <a:xfrm>
              <a:off x="1573003" y="2960430"/>
              <a:ext cx="718465" cy="707887"/>
            </a:xfrm>
            <a:prstGeom prst="rect">
              <a:avLst/>
            </a:prstGeom>
            <a:noFill/>
          </p:spPr>
          <p:txBody>
            <a:bodyPr wrap="none" anchor="ctr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453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tencil Std" panose="04020904080802020404" pitchFamily="82" charset="0"/>
                  <a:ea typeface="方正黑体简体" panose="02010601030101010101" pitchFamily="2" charset="-122"/>
                </a:rPr>
                <a:t>02</a:t>
              </a:r>
            </a:p>
          </p:txBody>
        </p:sp>
        <p:sp>
          <p:nvSpPr>
            <p:cNvPr id="89" name="TextBox 13"/>
            <p:cNvSpPr txBox="1"/>
            <p:nvPr>
              <p:custDataLst>
                <p:tags r:id="rId10"/>
              </p:custDataLst>
            </p:nvPr>
          </p:nvSpPr>
          <p:spPr>
            <a:xfrm>
              <a:off x="2096672" y="3010990"/>
              <a:ext cx="3244109" cy="563232"/>
            </a:xfrm>
            <a:prstGeom prst="rect">
              <a:avLst/>
            </a:prstGeom>
            <a:noFill/>
          </p:spPr>
          <p:txBody>
            <a:bodyPr wrap="none" lIns="480000" tIns="0" rIns="0" bIns="0" anchor="b" anchorCtr="0">
              <a:normAutofit/>
            </a:bodyPr>
            <a:lstStyle/>
            <a:p>
              <a:r>
                <a:rPr lang="zh-CN" altLang="en-US" sz="266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应对措施</a:t>
              </a:r>
            </a:p>
          </p:txBody>
        </p:sp>
      </p:grpSp>
      <p:grpSp>
        <p:nvGrpSpPr>
          <p:cNvPr id="91" name="Group 15"/>
          <p:cNvGrpSpPr/>
          <p:nvPr>
            <p:custDataLst>
              <p:tags r:id="rId3"/>
            </p:custDataLst>
          </p:nvPr>
        </p:nvGrpSpPr>
        <p:grpSpPr>
          <a:xfrm>
            <a:off x="7381662" y="3480329"/>
            <a:ext cx="4454869" cy="707887"/>
            <a:chOff x="1598315" y="4154489"/>
            <a:chExt cx="4454870" cy="707886"/>
          </a:xfrm>
        </p:grpSpPr>
        <p:sp>
          <p:nvSpPr>
            <p:cNvPr id="92" name="TextBox 16"/>
            <p:cNvSpPr txBox="1"/>
            <p:nvPr>
              <p:custDataLst>
                <p:tags r:id="rId7"/>
              </p:custDataLst>
            </p:nvPr>
          </p:nvSpPr>
          <p:spPr>
            <a:xfrm>
              <a:off x="1598315" y="4154489"/>
              <a:ext cx="732893" cy="707886"/>
            </a:xfrm>
            <a:prstGeom prst="rect">
              <a:avLst/>
            </a:prstGeom>
            <a:noFill/>
          </p:spPr>
          <p:txBody>
            <a:bodyPr wrap="none" anchor="ctr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4535" dirty="0">
                  <a:solidFill>
                    <a:srgbClr val="016371"/>
                  </a:solidFill>
                  <a:latin typeface="Stencil Std" panose="04020904080802020404" pitchFamily="82" charset="0"/>
                  <a:ea typeface="方正黑体简体" panose="02010601030101010101" pitchFamily="2" charset="-122"/>
                </a:rPr>
                <a:t>03</a:t>
              </a:r>
            </a:p>
          </p:txBody>
        </p:sp>
        <p:sp>
          <p:nvSpPr>
            <p:cNvPr id="94" name="TextBox 18"/>
            <p:cNvSpPr txBox="1"/>
            <p:nvPr>
              <p:custDataLst>
                <p:tags r:id="rId8"/>
              </p:custDataLst>
            </p:nvPr>
          </p:nvSpPr>
          <p:spPr>
            <a:xfrm>
              <a:off x="2090611" y="4271520"/>
              <a:ext cx="3962574" cy="520360"/>
            </a:xfrm>
            <a:prstGeom prst="rect">
              <a:avLst/>
            </a:prstGeom>
            <a:noFill/>
          </p:spPr>
          <p:txBody>
            <a:bodyPr wrap="none" lIns="480000" tIns="0" rIns="0" bIns="0" anchor="b" anchorCtr="0">
              <a:normAutofit/>
            </a:bodyPr>
            <a:lstStyle/>
            <a:p>
              <a:r>
                <a:rPr lang="zh-CN" altLang="en-US" sz="2665">
                  <a:solidFill>
                    <a:srgbClr val="01637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实战思路</a:t>
              </a:r>
              <a:endParaRPr lang="en-US" altLang="zh-CN" sz="2665" dirty="0">
                <a:solidFill>
                  <a:srgbClr val="016371"/>
                </a:solidFill>
                <a:latin typeface="方正黑体简体" panose="02010601030101010101" pitchFamily="2" charset="-122"/>
                <a:ea typeface="方正黑体简体" panose="02010601030101010101" pitchFamily="2" charset="-122"/>
              </a:endParaRPr>
            </a:p>
          </p:txBody>
        </p:sp>
      </p:grpSp>
      <p:grpSp>
        <p:nvGrpSpPr>
          <p:cNvPr id="96" name="Group 20"/>
          <p:cNvGrpSpPr/>
          <p:nvPr>
            <p:custDataLst>
              <p:tags r:id="rId4"/>
            </p:custDataLst>
          </p:nvPr>
        </p:nvGrpSpPr>
        <p:grpSpPr>
          <a:xfrm>
            <a:off x="7381662" y="4742408"/>
            <a:ext cx="4430625" cy="707888"/>
            <a:chOff x="1598315" y="5522641"/>
            <a:chExt cx="4430626" cy="707886"/>
          </a:xfrm>
        </p:grpSpPr>
        <p:sp>
          <p:nvSpPr>
            <p:cNvPr id="97" name="TextBox 21"/>
            <p:cNvSpPr txBox="1"/>
            <p:nvPr>
              <p:custDataLst>
                <p:tags r:id="rId5"/>
              </p:custDataLst>
            </p:nvPr>
          </p:nvSpPr>
          <p:spPr>
            <a:xfrm>
              <a:off x="1598315" y="5522641"/>
              <a:ext cx="716863" cy="707886"/>
            </a:xfrm>
            <a:prstGeom prst="rect">
              <a:avLst/>
            </a:prstGeom>
            <a:noFill/>
          </p:spPr>
          <p:txBody>
            <a:bodyPr wrap="none" anchor="ctr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453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tencil Std" panose="04020904080802020404" pitchFamily="82" charset="0"/>
                  <a:ea typeface="方正黑体简体" panose="02010601030101010101" pitchFamily="2" charset="-122"/>
                </a:rPr>
                <a:t>04</a:t>
              </a:r>
            </a:p>
          </p:txBody>
        </p:sp>
        <p:sp>
          <p:nvSpPr>
            <p:cNvPr id="99" name="TextBox 23"/>
            <p:cNvSpPr txBox="1"/>
            <p:nvPr>
              <p:custDataLst>
                <p:tags r:id="rId6"/>
              </p:custDataLst>
            </p:nvPr>
          </p:nvSpPr>
          <p:spPr>
            <a:xfrm>
              <a:off x="2066367" y="5693126"/>
              <a:ext cx="3962574" cy="442856"/>
            </a:xfrm>
            <a:prstGeom prst="rect">
              <a:avLst/>
            </a:prstGeom>
            <a:noFill/>
          </p:spPr>
          <p:txBody>
            <a:bodyPr wrap="none" lIns="480000" tIns="0" rIns="0" bIns="0" anchor="b" anchorCtr="0">
              <a:normAutofit/>
            </a:bodyPr>
            <a:lstStyle/>
            <a:p>
              <a:r>
                <a:rPr lang="zh-CN" altLang="en-US" sz="266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拓展练习</a:t>
              </a:r>
            </a:p>
          </p:txBody>
        </p:sp>
      </p:grpSp>
      <p:grpSp>
        <p:nvGrpSpPr>
          <p:cNvPr id="101" name="Group 9"/>
          <p:cNvGrpSpPr/>
          <p:nvPr/>
        </p:nvGrpSpPr>
        <p:grpSpPr>
          <a:xfrm>
            <a:off x="391262" y="4785017"/>
            <a:ext cx="5190430" cy="1925611"/>
            <a:chOff x="-1478936" y="2498602"/>
            <a:chExt cx="6059079" cy="2247874"/>
          </a:xfrm>
        </p:grpSpPr>
        <p:sp>
          <p:nvSpPr>
            <p:cNvPr id="102" name="TextBox 7"/>
            <p:cNvSpPr txBox="1"/>
            <p:nvPr/>
          </p:nvSpPr>
          <p:spPr>
            <a:xfrm>
              <a:off x="1943568" y="2498602"/>
              <a:ext cx="2636575" cy="2247874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  目   录</a:t>
              </a:r>
            </a:p>
          </p:txBody>
        </p:sp>
        <p:sp>
          <p:nvSpPr>
            <p:cNvPr id="103" name="TextBox 8"/>
            <p:cNvSpPr txBox="1"/>
            <p:nvPr/>
          </p:nvSpPr>
          <p:spPr>
            <a:xfrm>
              <a:off x="-1478936" y="3246091"/>
              <a:ext cx="2217541" cy="568773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ctr"/>
              <a:r>
                <a:rPr lang="en-US" altLang="zh-CN" sz="213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CONTENTS</a:t>
              </a:r>
            </a:p>
          </p:txBody>
        </p:sp>
      </p:grpSp>
      <p:cxnSp>
        <p:nvCxnSpPr>
          <p:cNvPr id="104" name="直接连接符 103"/>
          <p:cNvCxnSpPr/>
          <p:nvPr/>
        </p:nvCxnSpPr>
        <p:spPr>
          <a:xfrm>
            <a:off x="5332811" y="3689648"/>
            <a:ext cx="1728192" cy="3168352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图片 66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74471"/>
            <a:ext cx="5634402" cy="2862324"/>
          </a:xfrm>
          <a:prstGeom prst="rect">
            <a:avLst/>
          </a:prstGeom>
        </p:spPr>
      </p:pic>
      <p:sp>
        <p:nvSpPr>
          <p:cNvPr id="4" name="等腰三角形 3"/>
          <p:cNvSpPr/>
          <p:nvPr/>
        </p:nvSpPr>
        <p:spPr>
          <a:xfrm rot="10800000">
            <a:off x="4051063" y="1826249"/>
            <a:ext cx="1591383" cy="2908243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等腰三角形 67"/>
          <p:cNvSpPr/>
          <p:nvPr/>
        </p:nvSpPr>
        <p:spPr>
          <a:xfrm rot="10800000">
            <a:off x="5070475" y="3696303"/>
            <a:ext cx="573564" cy="1046099"/>
          </a:xfrm>
          <a:prstGeom prst="triangle">
            <a:avLst>
              <a:gd name="adj" fmla="val 0"/>
            </a:avLst>
          </a:prstGeom>
          <a:solidFill>
            <a:srgbClr val="0163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5" name="直接连接符 104"/>
          <p:cNvCxnSpPr/>
          <p:nvPr/>
        </p:nvCxnSpPr>
        <p:spPr>
          <a:xfrm>
            <a:off x="2724207" y="0"/>
            <a:ext cx="1728192" cy="3168352"/>
          </a:xfrm>
          <a:prstGeom prst="line">
            <a:avLst/>
          </a:prstGeom>
          <a:ln w="19050">
            <a:solidFill>
              <a:srgbClr val="0163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3578" y="1856853"/>
            <a:ext cx="7831800" cy="3945708"/>
            <a:chOff x="0" y="1826249"/>
            <a:chExt cx="5642446" cy="2910546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874471"/>
              <a:ext cx="5634402" cy="2862324"/>
            </a:xfrm>
            <a:prstGeom prst="rect">
              <a:avLst/>
            </a:prstGeom>
          </p:spPr>
        </p:pic>
        <p:sp>
          <p:nvSpPr>
            <p:cNvPr id="15" name="等腰三角形 14"/>
            <p:cNvSpPr/>
            <p:nvPr/>
          </p:nvSpPr>
          <p:spPr>
            <a:xfrm rot="10800000">
              <a:off x="4051063" y="1826249"/>
              <a:ext cx="1591383" cy="2908243"/>
            </a:xfrm>
            <a:prstGeom prst="triangle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矩形 1"/>
          <p:cNvSpPr/>
          <p:nvPr/>
        </p:nvSpPr>
        <p:spPr>
          <a:xfrm>
            <a:off x="2773322" y="2468330"/>
            <a:ext cx="7152117" cy="2784309"/>
          </a:xfrm>
          <a:custGeom>
            <a:avLst/>
            <a:gdLst>
              <a:gd name="connsiteX0" fmla="*/ 0 w 4211960"/>
              <a:gd name="connsiteY0" fmla="*/ 0 h 2088232"/>
              <a:gd name="connsiteX1" fmla="*/ 4211960 w 4211960"/>
              <a:gd name="connsiteY1" fmla="*/ 0 h 2088232"/>
              <a:gd name="connsiteX2" fmla="*/ 4211960 w 4211960"/>
              <a:gd name="connsiteY2" fmla="*/ 2088232 h 2088232"/>
              <a:gd name="connsiteX3" fmla="*/ 0 w 4211960"/>
              <a:gd name="connsiteY3" fmla="*/ 2088232 h 2088232"/>
              <a:gd name="connsiteX4" fmla="*/ 0 w 4211960"/>
              <a:gd name="connsiteY4" fmla="*/ 0 h 2088232"/>
              <a:gd name="connsiteX0-1" fmla="*/ 0 w 4211960"/>
              <a:gd name="connsiteY0-2" fmla="*/ 0 h 2088232"/>
              <a:gd name="connsiteX1-3" fmla="*/ 3101133 w 4211960"/>
              <a:gd name="connsiteY1-4" fmla="*/ 0 h 2088232"/>
              <a:gd name="connsiteX2-5" fmla="*/ 4211960 w 4211960"/>
              <a:gd name="connsiteY2-6" fmla="*/ 2088232 h 2088232"/>
              <a:gd name="connsiteX3-7" fmla="*/ 0 w 4211960"/>
              <a:gd name="connsiteY3-8" fmla="*/ 2088232 h 2088232"/>
              <a:gd name="connsiteX4-9" fmla="*/ 0 w 4211960"/>
              <a:gd name="connsiteY4-10" fmla="*/ 0 h 2088232"/>
              <a:gd name="connsiteX0-11" fmla="*/ 0 w 4211960"/>
              <a:gd name="connsiteY0-12" fmla="*/ 0 h 2088232"/>
              <a:gd name="connsiteX1-13" fmla="*/ 3281963 w 4211960"/>
              <a:gd name="connsiteY1-14" fmla="*/ 0 h 2088232"/>
              <a:gd name="connsiteX2-15" fmla="*/ 4211960 w 4211960"/>
              <a:gd name="connsiteY2-16" fmla="*/ 2088232 h 2088232"/>
              <a:gd name="connsiteX3-17" fmla="*/ 0 w 4211960"/>
              <a:gd name="connsiteY3-18" fmla="*/ 2088232 h 2088232"/>
              <a:gd name="connsiteX4-19" fmla="*/ 0 w 4211960"/>
              <a:gd name="connsiteY4-20" fmla="*/ 0 h 2088232"/>
              <a:gd name="connsiteX0-21" fmla="*/ 0 w 4211960"/>
              <a:gd name="connsiteY0-22" fmla="*/ 0 h 2088232"/>
              <a:gd name="connsiteX1-23" fmla="*/ 3319192 w 4211960"/>
              <a:gd name="connsiteY1-24" fmla="*/ 0 h 2088232"/>
              <a:gd name="connsiteX2-25" fmla="*/ 4211960 w 4211960"/>
              <a:gd name="connsiteY2-26" fmla="*/ 2088232 h 2088232"/>
              <a:gd name="connsiteX3-27" fmla="*/ 0 w 4211960"/>
              <a:gd name="connsiteY3-28" fmla="*/ 2088232 h 2088232"/>
              <a:gd name="connsiteX4-29" fmla="*/ 0 w 4211960"/>
              <a:gd name="connsiteY4-30" fmla="*/ 0 h 20882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211960" h="2088232">
                <a:moveTo>
                  <a:pt x="0" y="0"/>
                </a:moveTo>
                <a:lnTo>
                  <a:pt x="3319192" y="0"/>
                </a:lnTo>
                <a:lnTo>
                  <a:pt x="4211960" y="2088232"/>
                </a:lnTo>
                <a:lnTo>
                  <a:pt x="0" y="2088232"/>
                </a:lnTo>
                <a:lnTo>
                  <a:pt x="0" y="0"/>
                </a:lnTo>
                <a:close/>
              </a:path>
            </a:pathLst>
          </a:custGeom>
          <a:solidFill>
            <a:srgbClr val="0163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8" name="文本框 17"/>
          <p:cNvSpPr txBox="1"/>
          <p:nvPr/>
        </p:nvSpPr>
        <p:spPr>
          <a:xfrm>
            <a:off x="1007435" y="3121821"/>
            <a:ext cx="428582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方正黑体简体" panose="02010601030101010101" pitchFamily="2" charset="-122"/>
                <a:ea typeface="方正黑体简体" panose="02010601030101010101" pitchFamily="2" charset="-122"/>
              </a:rPr>
              <a:t>学习目标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286959" y="3389379"/>
            <a:ext cx="15722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8000" dirty="0">
                <a:solidFill>
                  <a:schemeClr val="bg1"/>
                </a:solidFill>
                <a:latin typeface="Stencil Std" panose="04020904080802020404" pitchFamily="82" charset="0"/>
                <a:ea typeface="方正黑体简体" panose="02010601030101010101" pitchFamily="2" charset="-122"/>
              </a:rPr>
              <a:t>01</a:t>
            </a:r>
            <a:endParaRPr lang="zh-CN" altLang="en-US" sz="8000" dirty="0">
              <a:solidFill>
                <a:schemeClr val="bg1"/>
              </a:solidFill>
              <a:latin typeface="Stencil Std" panose="04020904080802020404" pitchFamily="82" charset="0"/>
              <a:ea typeface="方正黑体简体" panose="02010601030101010101" pitchFamily="2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8759054" y="1796819"/>
            <a:ext cx="2760644" cy="5061181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6008914" y="0"/>
            <a:ext cx="1204562" cy="2180580"/>
          </a:xfrm>
          <a:prstGeom prst="line">
            <a:avLst/>
          </a:prstGeom>
          <a:ln w="19050">
            <a:solidFill>
              <a:srgbClr val="0163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课题目标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90500" y="1004570"/>
            <a:ext cx="11642090" cy="1614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zh-CN" altLang="en-US" dirty="0"/>
              <a:t>掌握一些常用的反爬虫技术及应对方法，包括：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针对</a:t>
            </a:r>
            <a:r>
              <a:rPr lang="en-US" altLang="zh-CN" dirty="0"/>
              <a:t>HTTP</a:t>
            </a:r>
            <a:r>
              <a:rPr lang="zh-CN" altLang="en-US" dirty="0"/>
              <a:t>请求头的反爬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爬虫</a:t>
            </a:r>
            <a:r>
              <a:rPr lang="en-US" altLang="zh-CN" dirty="0"/>
              <a:t>IP</a:t>
            </a:r>
            <a:r>
              <a:rPr lang="zh-CN" altLang="en-US" dirty="0"/>
              <a:t>封禁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验证码反爬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针对</a:t>
            </a:r>
            <a:r>
              <a:rPr lang="en-US" altLang="zh-CN" dirty="0"/>
              <a:t>selenium</a:t>
            </a:r>
            <a:r>
              <a:rPr lang="zh-CN" altLang="en-US" dirty="0"/>
              <a:t>的指纹识别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反爬虫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87680" y="836295"/>
            <a:ext cx="10458450" cy="4407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/>
              <a:t>反爬虫：</a:t>
            </a:r>
            <a:endParaRPr lang="en-US" altLang="zh-CN"/>
          </a:p>
          <a:p>
            <a:pPr>
              <a:lnSpc>
                <a:spcPct val="130000"/>
              </a:lnSpc>
            </a:pPr>
            <a:r>
              <a:rPr lang="zh-CN" altLang="en-US"/>
              <a:t>反爬虫是网站通过各种技术手段，阻止自动化工具批量抓取数据的机制</a:t>
            </a:r>
          </a:p>
          <a:p>
            <a:pPr>
              <a:lnSpc>
                <a:spcPct val="130000"/>
              </a:lnSpc>
            </a:pPr>
            <a:endParaRPr lang="zh-CN" altLang="en-US"/>
          </a:p>
          <a:p>
            <a:pPr>
              <a:lnSpc>
                <a:spcPct val="130000"/>
              </a:lnSpc>
            </a:pPr>
            <a:r>
              <a:rPr lang="zh-CN" altLang="en-US" b="1"/>
              <a:t>反爬虫的目的：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防止敏感信息泄露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减少服务器资源浪费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保障数据安全和合法使用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zh-CN" altLang="en-US"/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b="1"/>
              <a:t>反爬虫的常见应用：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网络层：</a:t>
            </a:r>
            <a:r>
              <a:rPr lang="en-US" altLang="zh-CN"/>
              <a:t>IP </a:t>
            </a:r>
            <a:r>
              <a:rPr lang="zh-CN" altLang="en-US"/>
              <a:t>封禁、频率限制</a:t>
            </a:r>
            <a:endParaRPr lang="en-US" altLang="zh-CN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应用层：验证码、人机验证、</a:t>
            </a:r>
            <a:r>
              <a:rPr lang="en-US" altLang="zh-CN"/>
              <a:t>Selenium </a:t>
            </a:r>
            <a:r>
              <a:rPr lang="zh-CN" altLang="en-US"/>
              <a:t>识别</a:t>
            </a:r>
            <a:endParaRPr lang="en-US" altLang="zh-CN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数据层：数据混淆、动态加载、</a:t>
            </a:r>
            <a:r>
              <a:rPr lang="en-US" altLang="zh-CN"/>
              <a:t>DOM </a:t>
            </a:r>
            <a:r>
              <a:rPr lang="zh-CN" altLang="en-US"/>
              <a:t>渲染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3578" y="1856853"/>
            <a:ext cx="7831800" cy="3945708"/>
            <a:chOff x="0" y="1826249"/>
            <a:chExt cx="5642446" cy="2910546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874471"/>
              <a:ext cx="5634402" cy="2862324"/>
            </a:xfrm>
            <a:prstGeom prst="rect">
              <a:avLst/>
            </a:prstGeom>
          </p:spPr>
        </p:pic>
        <p:sp>
          <p:nvSpPr>
            <p:cNvPr id="15" name="等腰三角形 14"/>
            <p:cNvSpPr/>
            <p:nvPr/>
          </p:nvSpPr>
          <p:spPr>
            <a:xfrm rot="10800000">
              <a:off x="4051063" y="1826249"/>
              <a:ext cx="1591383" cy="2908243"/>
            </a:xfrm>
            <a:prstGeom prst="triangle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矩形 1"/>
          <p:cNvSpPr/>
          <p:nvPr/>
        </p:nvSpPr>
        <p:spPr>
          <a:xfrm>
            <a:off x="2773322" y="2468330"/>
            <a:ext cx="7152117" cy="2784309"/>
          </a:xfrm>
          <a:custGeom>
            <a:avLst/>
            <a:gdLst>
              <a:gd name="connsiteX0" fmla="*/ 0 w 4211960"/>
              <a:gd name="connsiteY0" fmla="*/ 0 h 2088232"/>
              <a:gd name="connsiteX1" fmla="*/ 4211960 w 4211960"/>
              <a:gd name="connsiteY1" fmla="*/ 0 h 2088232"/>
              <a:gd name="connsiteX2" fmla="*/ 4211960 w 4211960"/>
              <a:gd name="connsiteY2" fmla="*/ 2088232 h 2088232"/>
              <a:gd name="connsiteX3" fmla="*/ 0 w 4211960"/>
              <a:gd name="connsiteY3" fmla="*/ 2088232 h 2088232"/>
              <a:gd name="connsiteX4" fmla="*/ 0 w 4211960"/>
              <a:gd name="connsiteY4" fmla="*/ 0 h 2088232"/>
              <a:gd name="connsiteX0-1" fmla="*/ 0 w 4211960"/>
              <a:gd name="connsiteY0-2" fmla="*/ 0 h 2088232"/>
              <a:gd name="connsiteX1-3" fmla="*/ 3101133 w 4211960"/>
              <a:gd name="connsiteY1-4" fmla="*/ 0 h 2088232"/>
              <a:gd name="connsiteX2-5" fmla="*/ 4211960 w 4211960"/>
              <a:gd name="connsiteY2-6" fmla="*/ 2088232 h 2088232"/>
              <a:gd name="connsiteX3-7" fmla="*/ 0 w 4211960"/>
              <a:gd name="connsiteY3-8" fmla="*/ 2088232 h 2088232"/>
              <a:gd name="connsiteX4-9" fmla="*/ 0 w 4211960"/>
              <a:gd name="connsiteY4-10" fmla="*/ 0 h 2088232"/>
              <a:gd name="connsiteX0-11" fmla="*/ 0 w 4211960"/>
              <a:gd name="connsiteY0-12" fmla="*/ 0 h 2088232"/>
              <a:gd name="connsiteX1-13" fmla="*/ 3281963 w 4211960"/>
              <a:gd name="connsiteY1-14" fmla="*/ 0 h 2088232"/>
              <a:gd name="connsiteX2-15" fmla="*/ 4211960 w 4211960"/>
              <a:gd name="connsiteY2-16" fmla="*/ 2088232 h 2088232"/>
              <a:gd name="connsiteX3-17" fmla="*/ 0 w 4211960"/>
              <a:gd name="connsiteY3-18" fmla="*/ 2088232 h 2088232"/>
              <a:gd name="connsiteX4-19" fmla="*/ 0 w 4211960"/>
              <a:gd name="connsiteY4-20" fmla="*/ 0 h 2088232"/>
              <a:gd name="connsiteX0-21" fmla="*/ 0 w 4211960"/>
              <a:gd name="connsiteY0-22" fmla="*/ 0 h 2088232"/>
              <a:gd name="connsiteX1-23" fmla="*/ 3319192 w 4211960"/>
              <a:gd name="connsiteY1-24" fmla="*/ 0 h 2088232"/>
              <a:gd name="connsiteX2-25" fmla="*/ 4211960 w 4211960"/>
              <a:gd name="connsiteY2-26" fmla="*/ 2088232 h 2088232"/>
              <a:gd name="connsiteX3-27" fmla="*/ 0 w 4211960"/>
              <a:gd name="connsiteY3-28" fmla="*/ 2088232 h 2088232"/>
              <a:gd name="connsiteX4-29" fmla="*/ 0 w 4211960"/>
              <a:gd name="connsiteY4-30" fmla="*/ 0 h 20882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211960" h="2088232">
                <a:moveTo>
                  <a:pt x="0" y="0"/>
                </a:moveTo>
                <a:lnTo>
                  <a:pt x="3319192" y="0"/>
                </a:lnTo>
                <a:lnTo>
                  <a:pt x="4211960" y="2088232"/>
                </a:lnTo>
                <a:lnTo>
                  <a:pt x="0" y="2088232"/>
                </a:lnTo>
                <a:lnTo>
                  <a:pt x="0" y="0"/>
                </a:lnTo>
                <a:close/>
              </a:path>
            </a:pathLst>
          </a:custGeom>
          <a:solidFill>
            <a:srgbClr val="0163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8" name="文本框 17"/>
          <p:cNvSpPr txBox="1"/>
          <p:nvPr/>
        </p:nvSpPr>
        <p:spPr>
          <a:xfrm>
            <a:off x="1007435" y="3121821"/>
            <a:ext cx="428582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方正黑体简体" panose="02010601030101010101" pitchFamily="2" charset="-122"/>
                <a:ea typeface="方正黑体简体" panose="02010601030101010101" pitchFamily="2" charset="-122"/>
              </a:rPr>
              <a:t>应对措施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286959" y="3389379"/>
            <a:ext cx="1572251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8000" dirty="0">
                <a:solidFill>
                  <a:schemeClr val="bg1"/>
                </a:solidFill>
                <a:latin typeface="Stencil Std" panose="04020904080802020404" pitchFamily="82" charset="0"/>
                <a:ea typeface="方正黑体简体" panose="02010601030101010101" pitchFamily="2" charset="-122"/>
              </a:rPr>
              <a:t>02</a:t>
            </a:r>
            <a:endParaRPr lang="zh-CN" altLang="en-US" sz="8000" dirty="0">
              <a:solidFill>
                <a:schemeClr val="bg1"/>
              </a:solidFill>
              <a:latin typeface="Stencil Std" panose="04020904080802020404" pitchFamily="82" charset="0"/>
              <a:ea typeface="方正黑体简体" panose="02010601030101010101" pitchFamily="2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8759054" y="1796819"/>
            <a:ext cx="2760644" cy="5061181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6008914" y="0"/>
            <a:ext cx="1204562" cy="2180580"/>
          </a:xfrm>
          <a:prstGeom prst="line">
            <a:avLst/>
          </a:prstGeom>
          <a:ln w="19050">
            <a:solidFill>
              <a:srgbClr val="0163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HTTP</a:t>
              </a:r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请求协议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925" y="1089025"/>
            <a:ext cx="8216900" cy="46799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HTTP</a:t>
              </a:r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请求协议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915" y="889000"/>
            <a:ext cx="9175750" cy="5600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HTTP</a:t>
              </a:r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请求协议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5560" y="1517650"/>
            <a:ext cx="8331200" cy="2882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HTTP </a:t>
              </a:r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请求头反爬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60020" y="990600"/>
            <a:ext cx="934402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原理：</a:t>
            </a:r>
          </a:p>
          <a:p>
            <a:r>
              <a:rPr lang="zh-CN" altLang="en-US"/>
              <a:t>网站会通过</a:t>
            </a:r>
            <a:r>
              <a:rPr lang="zh-CN" altLang="en-US" b="1"/>
              <a:t>检查</a:t>
            </a:r>
            <a:r>
              <a:rPr lang="en-US" altLang="zh-CN" b="1"/>
              <a:t> HTTP </a:t>
            </a:r>
            <a:r>
              <a:rPr lang="zh-CN" altLang="en-US" b="1"/>
              <a:t>请求头</a:t>
            </a:r>
            <a:r>
              <a:rPr lang="zh-CN" altLang="en-US"/>
              <a:t>来判断请求是否来自真实用户。例如：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User-Agent</a:t>
            </a:r>
            <a:r>
              <a:rPr lang="zh-CN" altLang="en-US"/>
              <a:t>是否存在且合法，若缺失则可能检测为非法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Referer</a:t>
            </a:r>
            <a:r>
              <a:rPr lang="zh-CN" altLang="en-US"/>
              <a:t>是否来源正确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Cookie</a:t>
            </a:r>
            <a:r>
              <a:rPr lang="zh-CN" altLang="en-US"/>
              <a:t>是否符合会话验证，若</a:t>
            </a:r>
            <a:r>
              <a:rPr lang="en-US" altLang="zh-CN"/>
              <a:t>Cookie</a:t>
            </a:r>
            <a:r>
              <a:rPr lang="zh-CN" altLang="en-US"/>
              <a:t>信息不完整，服务器会强制跳转到登录页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15900" y="2797810"/>
            <a:ext cx="8094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应对措施：</a:t>
            </a:r>
            <a:r>
              <a:rPr lang="zh-CN" altLang="en-US"/>
              <a:t>伪装</a:t>
            </a:r>
            <a:r>
              <a:rPr lang="en-US" altLang="zh-CN"/>
              <a:t>HTTP</a:t>
            </a:r>
            <a:r>
              <a:rPr lang="zh-CN" altLang="en-US"/>
              <a:t>请求头，让请求更加符合真实用户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" y="3429000"/>
            <a:ext cx="10077450" cy="2235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爬虫</a:t>
              </a:r>
              <a:r>
                <a:rPr lang="en-US" alt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IP</a:t>
              </a:r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封禁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0020" y="990600"/>
            <a:ext cx="11483340" cy="1751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/>
              <a:t>原理：</a:t>
            </a:r>
          </a:p>
          <a:p>
            <a:pPr>
              <a:lnSpc>
                <a:spcPct val="120000"/>
              </a:lnSpc>
            </a:pPr>
            <a:r>
              <a:rPr lang="zh-CN" altLang="en-US"/>
              <a:t>服务器会检测同一</a:t>
            </a:r>
            <a:r>
              <a:rPr lang="en-US" altLang="zh-CN"/>
              <a:t> IP </a:t>
            </a:r>
            <a:r>
              <a:rPr lang="zh-CN" altLang="en-US"/>
              <a:t>的访问频率，短时间内大量请求可能会触发封禁，封禁策略和时长各异。</a:t>
            </a:r>
            <a:endParaRPr lang="en-US" altLang="zh-CN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短期封禁：限制几分钟到几小时</a:t>
            </a:r>
            <a:endParaRPr lang="en-US" altLang="zh-CN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长期封禁：</a:t>
            </a:r>
            <a:r>
              <a:rPr lang="en-US" altLang="zh-CN"/>
              <a:t>IP </a:t>
            </a:r>
            <a:r>
              <a:rPr lang="zh-CN" altLang="en-US"/>
              <a:t>黑名单，禁止访问</a:t>
            </a:r>
            <a:endParaRPr lang="en-US" altLang="zh-CN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区域封禁：限制特定地区的访问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60020" y="2903220"/>
            <a:ext cx="8094345" cy="1889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/>
              <a:t>应对措施：</a:t>
            </a:r>
          </a:p>
          <a:p>
            <a:pPr>
              <a:lnSpc>
                <a:spcPct val="130000"/>
              </a:lnSpc>
            </a:pPr>
            <a:r>
              <a:rPr lang="en-US" altLang="zh-CN"/>
              <a:t>1. </a:t>
            </a:r>
            <a:r>
              <a:rPr lang="zh-CN" altLang="en-US"/>
              <a:t>代理池管理：通过多</a:t>
            </a:r>
            <a:r>
              <a:rPr lang="en-US" altLang="zh-CN"/>
              <a:t> IP </a:t>
            </a:r>
            <a:r>
              <a:rPr lang="zh-CN" altLang="en-US"/>
              <a:t>轮询来避免单一</a:t>
            </a:r>
            <a:r>
              <a:rPr lang="en-US" altLang="zh-CN"/>
              <a:t> IP </a:t>
            </a:r>
            <a:r>
              <a:rPr lang="zh-CN" altLang="en-US"/>
              <a:t>频繁访问</a:t>
            </a:r>
          </a:p>
          <a:p>
            <a:pPr>
              <a:lnSpc>
                <a:spcPct val="130000"/>
              </a:lnSpc>
            </a:pPr>
            <a:r>
              <a:rPr lang="en-US" altLang="zh-CN"/>
              <a:t>2. </a:t>
            </a:r>
            <a:r>
              <a:rPr lang="zh-CN" altLang="en-US"/>
              <a:t>通过代理</a:t>
            </a:r>
            <a:r>
              <a:rPr lang="en-US" altLang="zh-CN"/>
              <a:t>IP</a:t>
            </a:r>
            <a:r>
              <a:rPr lang="zh-CN" altLang="en-US"/>
              <a:t>来隐藏真实</a:t>
            </a:r>
            <a:r>
              <a:rPr lang="en-US" altLang="zh-CN"/>
              <a:t>IP</a:t>
            </a:r>
            <a:endParaRPr lang="zh-CN" altLang="en-US"/>
          </a:p>
          <a:p>
            <a:pPr>
              <a:lnSpc>
                <a:spcPct val="130000"/>
              </a:lnSpc>
            </a:pPr>
            <a:r>
              <a:rPr lang="en-US" altLang="zh-CN"/>
              <a:t>3. </a:t>
            </a:r>
            <a:r>
              <a:rPr lang="zh-CN" altLang="en-US"/>
              <a:t>降低访问频率：设置合理的</a:t>
            </a:r>
            <a:r>
              <a:rPr lang="en-US" altLang="zh-CN"/>
              <a:t> time.sleep() </a:t>
            </a:r>
            <a:r>
              <a:rPr lang="zh-CN" altLang="en-US"/>
              <a:t>间隔</a:t>
            </a:r>
            <a:endParaRPr lang="en-US" altLang="zh-CN"/>
          </a:p>
          <a:p>
            <a:pPr>
              <a:lnSpc>
                <a:spcPct val="130000"/>
              </a:lnSpc>
            </a:pPr>
            <a:r>
              <a:rPr lang="en-US" altLang="zh-CN"/>
              <a:t>4.</a:t>
            </a:r>
            <a:r>
              <a:rPr lang="zh-CN" altLang="en-US"/>
              <a:t>分布式部署：多地部署节点减少同一</a:t>
            </a:r>
            <a:r>
              <a:rPr lang="en-US" altLang="zh-CN"/>
              <a:t> IP </a:t>
            </a:r>
            <a:r>
              <a:rPr lang="zh-CN" altLang="en-US"/>
              <a:t>访问量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代理池管理示例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810" y="1236345"/>
            <a:ext cx="4794250" cy="25908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84810" y="7886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一个包含</a:t>
            </a:r>
            <a:r>
              <a:rPr lang="en-US" altLang="zh-CN"/>
              <a:t>ip</a:t>
            </a:r>
            <a:r>
              <a:rPr lang="zh-CN" altLang="en-US"/>
              <a:t>池随机选用示例：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代理</a:t>
              </a:r>
              <a:r>
                <a:rPr lang="en-US" alt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IP</a:t>
              </a:r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隐藏真实</a:t>
              </a:r>
              <a:r>
                <a:rPr lang="en-US" alt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IP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16865" y="897573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600"/>
              <a:t>使用代理 </a:t>
            </a:r>
            <a:r>
              <a:rPr lang="en-US" altLang="zh-CN" sz="1600"/>
              <a:t>IP </a:t>
            </a:r>
            <a:r>
              <a:rPr lang="zh-CN" altLang="en-US" sz="1600"/>
              <a:t>来隐藏真实 </a:t>
            </a:r>
            <a:r>
              <a:rPr lang="en-US" altLang="zh-CN" sz="1600"/>
              <a:t>IP</a:t>
            </a:r>
            <a:r>
              <a:rPr lang="zh-CN" altLang="en-US" sz="1600"/>
              <a:t>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660" y="1538605"/>
            <a:ext cx="11296650" cy="3594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验证码反爬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60020" y="990600"/>
            <a:ext cx="1148334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/>
              <a:t>原理：</a:t>
            </a:r>
          </a:p>
          <a:p>
            <a:pPr>
              <a:lnSpc>
                <a:spcPct val="150000"/>
              </a:lnSpc>
            </a:pPr>
            <a:r>
              <a:rPr lang="zh-CN" altLang="en-US"/>
              <a:t>网站通过验证码验证用户身份，阻止自动化工具访问。</a:t>
            </a:r>
            <a:endParaRPr lang="en-US" altLang="zh-CN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/>
              <a:t>常见验证码类型：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图形验证码：最常见的防爬虫手段，通常包含字母、数字或图形干扰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滑块验证：要求用户拖动滑块至缺口位置，通过判断拖动轨迹、时间、缺口位置来辨别是否为人类操作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行为验证：要求用户完成特定操作，如点击指定物体、拖动特定元素到目标区域、模拟真实鼠标行为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895" y="164465"/>
            <a:ext cx="4598670" cy="545465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验证码反爬</a:t>
              </a:r>
              <a:r>
                <a:rPr lang="en-US" alt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-</a:t>
              </a:r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  <a:sym typeface="+mn-ea"/>
                </a:rPr>
                <a:t>图形验证码</a:t>
              </a:r>
              <a:endParaRPr lang="zh-CN" altLang="en-US" sz="1865" dirty="0">
                <a:solidFill>
                  <a:schemeClr val="bg1"/>
                </a:solidFill>
                <a:latin typeface="方正黑体简体" panose="02010601030101010101" pitchFamily="2" charset="-122"/>
                <a:ea typeface="方正黑体简体" panose="02010601030101010101" pitchFamily="2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4290" y="791210"/>
            <a:ext cx="9283700" cy="1727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60000"/>
              </a:spcAft>
            </a:pPr>
            <a:r>
              <a:rPr lang="zh-CN" b="1"/>
              <a:t>应对措施</a:t>
            </a:r>
            <a:endParaRPr lang="zh-CN" altLang="en-US" b="1"/>
          </a:p>
          <a:p>
            <a:pPr>
              <a:lnSpc>
                <a:spcPct val="120000"/>
              </a:lnSpc>
              <a:buAutoNum type="arabicPeriod"/>
            </a:pPr>
            <a:r>
              <a:rPr lang="zh-CN" altLang="en-US" sz="1600"/>
              <a:t>预处理图片：去噪、二值化、去背景</a:t>
            </a:r>
          </a:p>
          <a:p>
            <a:pPr>
              <a:lnSpc>
                <a:spcPct val="120000"/>
              </a:lnSpc>
              <a:buAutoNum type="arabicPeriod"/>
            </a:pPr>
            <a:r>
              <a:rPr lang="zh-CN" altLang="en-US" sz="1600"/>
              <a:t>字符分割：对字符逐一分离，避免重叠干扰</a:t>
            </a:r>
          </a:p>
          <a:p>
            <a:pPr>
              <a:lnSpc>
                <a:spcPct val="120000"/>
              </a:lnSpc>
              <a:buAutoNum type="arabicPeriod"/>
            </a:pPr>
            <a:r>
              <a:rPr lang="en-US" altLang="zh-CN" sz="1600"/>
              <a:t>OCR </a:t>
            </a:r>
            <a:r>
              <a:rPr lang="zh-CN" altLang="en-US" sz="1600"/>
              <a:t>识别：使用 </a:t>
            </a:r>
            <a:r>
              <a:rPr lang="en-US" altLang="zh-CN" sz="1600"/>
              <a:t>pytesseract</a:t>
            </a:r>
            <a:r>
              <a:rPr lang="zh-CN" altLang="en-US" sz="1600"/>
              <a:t>或训练过的深度学习模型（如 </a:t>
            </a:r>
            <a:r>
              <a:rPr lang="en-US" altLang="zh-CN" sz="1600"/>
              <a:t>CRNN</a:t>
            </a:r>
            <a:r>
              <a:rPr lang="zh-CN" altLang="en-US" sz="1600"/>
              <a:t>、</a:t>
            </a:r>
            <a:r>
              <a:rPr lang="en-US" altLang="zh-CN" sz="1600"/>
              <a:t>CNN-LSTM</a:t>
            </a:r>
            <a:r>
              <a:rPr lang="zh-CN" altLang="en-US" sz="1600"/>
              <a:t>）</a:t>
            </a:r>
          </a:p>
          <a:p>
            <a:pPr>
              <a:lnSpc>
                <a:spcPct val="120000"/>
              </a:lnSpc>
              <a:buAutoNum type="arabicPeriod"/>
            </a:pPr>
            <a:r>
              <a:rPr lang="zh-CN" altLang="en-US" sz="1600"/>
              <a:t>模型微调：对特定网站的验证码进行样本收集与训练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615" y="3174365"/>
            <a:ext cx="5689600" cy="33655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57480" y="27158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示例：</a:t>
            </a:r>
            <a:r>
              <a:rPr lang="en-US" altLang="zh-CN" b="1"/>
              <a:t>pytesseract </a:t>
            </a:r>
            <a:r>
              <a:rPr lang="zh-CN" altLang="en-US" b="1"/>
              <a:t>识别简单验证码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156960" y="3174365"/>
            <a:ext cx="59607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1. </a:t>
            </a:r>
            <a:r>
              <a:rPr lang="zh-CN" altLang="en-US"/>
              <a:t>先将图片灰度化并二值处理，去除背景干扰</a:t>
            </a:r>
          </a:p>
          <a:p>
            <a:endParaRPr lang="en-US" altLang="zh-CN"/>
          </a:p>
          <a:p>
            <a:r>
              <a:rPr lang="en-US" altLang="zh-CN"/>
              <a:t>2. </a:t>
            </a:r>
            <a:r>
              <a:rPr lang="zh-CN" altLang="en-US"/>
              <a:t>使用</a:t>
            </a:r>
            <a:r>
              <a:rPr lang="en-US" altLang="zh-CN"/>
              <a:t>pytesseract</a:t>
            </a:r>
            <a:r>
              <a:rPr lang="zh-CN" altLang="en-US"/>
              <a:t>进行文字识别，适合简单验证码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008370" y="5196840"/>
            <a:ext cx="58877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注：更复杂的图形验证码可参考开源工具</a:t>
            </a:r>
            <a:r>
              <a:rPr lang="en-US" altLang="zh-CN" b="1"/>
              <a:t>captcha_solver</a:t>
            </a:r>
            <a:endParaRPr lang="en-US" altLang="zh-CN"/>
          </a:p>
          <a:p>
            <a:r>
              <a:rPr lang="en-US" altLang="zh-CN"/>
              <a:t> https://github.com/lepture/captcha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895" y="164465"/>
            <a:ext cx="4598670" cy="545465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验证码反爬</a:t>
              </a:r>
              <a:r>
                <a:rPr lang="en-US" alt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-</a:t>
              </a:r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滑块验证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4290" y="791210"/>
            <a:ext cx="9283700" cy="1432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60000"/>
              </a:spcAft>
            </a:pPr>
            <a:r>
              <a:rPr lang="zh-CN" b="1"/>
              <a:t>应对措施</a:t>
            </a:r>
            <a:endParaRPr lang="zh-CN" altLang="en-US" b="1"/>
          </a:p>
          <a:p>
            <a:pPr>
              <a:lnSpc>
                <a:spcPct val="120000"/>
              </a:lnSpc>
              <a:buAutoNum type="arabicPeriod"/>
            </a:pPr>
            <a:r>
              <a:rPr lang="zh-CN" altLang="en-US" sz="1600"/>
              <a:t>缺口识别：使用模板匹配（</a:t>
            </a:r>
            <a:r>
              <a:rPr lang="en-US" altLang="zh-CN" sz="1600"/>
              <a:t>Template Matching</a:t>
            </a:r>
            <a:r>
              <a:rPr lang="zh-CN" altLang="en-US" sz="1600"/>
              <a:t>）找到滑块缺口位置</a:t>
            </a:r>
          </a:p>
          <a:p>
            <a:pPr>
              <a:lnSpc>
                <a:spcPct val="120000"/>
              </a:lnSpc>
              <a:buAutoNum type="arabicPeriod"/>
            </a:pPr>
            <a:r>
              <a:rPr lang="zh-CN" altLang="en-US" sz="1600"/>
              <a:t>轨迹模拟：构建人类习惯的轨迹路径，避免过于平滑或固定</a:t>
            </a:r>
            <a:endParaRPr lang="en-US" altLang="zh-CN" sz="1600"/>
          </a:p>
          <a:p>
            <a:pPr>
              <a:lnSpc>
                <a:spcPct val="120000"/>
              </a:lnSpc>
              <a:buAutoNum type="arabicPeriod"/>
            </a:pPr>
            <a:r>
              <a:rPr lang="zh-CN" altLang="en-US" sz="1600"/>
              <a:t>拖动执行：</a:t>
            </a:r>
            <a:r>
              <a:rPr lang="en-US" altLang="zh-CN" sz="1600"/>
              <a:t>Selenium</a:t>
            </a:r>
            <a:r>
              <a:rPr lang="zh-CN" altLang="en-US" sz="1600"/>
              <a:t>执行拖动动作，通过模拟鼠标移动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890" y="2420620"/>
            <a:ext cx="5181600" cy="4318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483225" y="2540000"/>
            <a:ext cx="670877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示例：</a:t>
            </a:r>
            <a:r>
              <a:rPr lang="en-US" altLang="zh-CN" b="1"/>
              <a:t>Selenium </a:t>
            </a:r>
            <a:r>
              <a:rPr lang="zh-CN" altLang="en-US" b="1"/>
              <a:t>破解滑块验证</a:t>
            </a:r>
          </a:p>
          <a:p>
            <a:endParaRPr lang="zh-CN" altLang="en-US" b="1"/>
          </a:p>
          <a:p>
            <a:r>
              <a:rPr lang="en-US" altLang="zh-CN"/>
              <a:t>1. </a:t>
            </a:r>
            <a:r>
              <a:rPr lang="zh-CN" altLang="en-US"/>
              <a:t>识别滑块元素并模拟人类的缓慢到快速的拖动轨迹</a:t>
            </a:r>
          </a:p>
          <a:p>
            <a:endParaRPr lang="en-US" altLang="zh-CN"/>
          </a:p>
          <a:p>
            <a:r>
              <a:rPr lang="en-US" altLang="zh-CN"/>
              <a:t>2. </a:t>
            </a:r>
            <a:r>
              <a:rPr lang="zh-CN" altLang="en-US"/>
              <a:t>避免被检测出固定速率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483225" y="5314315"/>
            <a:ext cx="58877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注：更复杂的滑块验证可参考</a:t>
            </a:r>
            <a:r>
              <a:rPr lang="en-US" altLang="zh-CN"/>
              <a:t>OpenCV</a:t>
            </a:r>
            <a:r>
              <a:rPr lang="zh-CN" altLang="en-US"/>
              <a:t>模板匹配或轨迹学习（使用人工历史轨迹数据模拟真实人类操作）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895" y="164465"/>
            <a:ext cx="4598670" cy="545465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验证码反爬</a:t>
              </a:r>
              <a:r>
                <a:rPr lang="en-US" alt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-</a:t>
              </a:r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行为验证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4290" y="791210"/>
            <a:ext cx="9283700" cy="1432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60000"/>
              </a:spcAft>
            </a:pPr>
            <a:r>
              <a:rPr lang="zh-CN" b="1"/>
              <a:t>应对措施</a:t>
            </a:r>
            <a:endParaRPr lang="zh-CN" altLang="en-US" b="1"/>
          </a:p>
          <a:p>
            <a:pPr>
              <a:lnSpc>
                <a:spcPct val="120000"/>
              </a:lnSpc>
              <a:buAutoNum type="arabicPeriod"/>
            </a:pPr>
            <a:r>
              <a:rPr lang="zh-CN" altLang="en-US" sz="1600"/>
              <a:t>行为模拟：使用</a:t>
            </a:r>
            <a:r>
              <a:rPr lang="en-US" altLang="zh-CN" sz="1600"/>
              <a:t> Selenium </a:t>
            </a:r>
            <a:r>
              <a:rPr lang="zh-CN" altLang="en-US" sz="1600"/>
              <a:t>完整模拟鼠标移动、点击、甚至错误点击</a:t>
            </a:r>
            <a:endParaRPr lang="en-US" altLang="zh-CN" sz="1600"/>
          </a:p>
          <a:p>
            <a:pPr>
              <a:lnSpc>
                <a:spcPct val="120000"/>
              </a:lnSpc>
              <a:buAutoNum type="arabicPeriod"/>
            </a:pPr>
            <a:r>
              <a:rPr lang="zh-CN" altLang="en-US" sz="1600"/>
              <a:t>路径规划：构建随机路径，避免线性运动</a:t>
            </a:r>
            <a:endParaRPr lang="en-US" altLang="zh-CN" sz="1600"/>
          </a:p>
          <a:p>
            <a:pPr>
              <a:lnSpc>
                <a:spcPct val="120000"/>
              </a:lnSpc>
              <a:buAutoNum type="arabicPeriod"/>
            </a:pPr>
            <a:r>
              <a:rPr lang="zh-CN" altLang="en-US" sz="1600"/>
              <a:t>延时控制：模拟人类在观察页面后的点击延迟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605145" y="21685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示例：</a:t>
            </a:r>
            <a:r>
              <a:rPr lang="en-US" altLang="zh-CN" b="1"/>
              <a:t>Selenium </a:t>
            </a:r>
            <a:r>
              <a:rPr lang="zh-CN" altLang="en-US" b="1"/>
              <a:t>模拟行为验证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649595" y="3174365"/>
            <a:ext cx="59601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1. </a:t>
            </a:r>
            <a:r>
              <a:rPr lang="zh-CN" altLang="en-US"/>
              <a:t>鼠标移动是非线性并且带有偏移，避免被检测</a:t>
            </a:r>
          </a:p>
          <a:p>
            <a:endParaRPr lang="en-US" altLang="zh-CN"/>
          </a:p>
          <a:p>
            <a:r>
              <a:rPr lang="en-US" altLang="zh-CN"/>
              <a:t>2. </a:t>
            </a:r>
            <a:r>
              <a:rPr lang="zh-CN" altLang="en-US"/>
              <a:t>点击有随机延迟，模拟人类停顿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15" y="2209800"/>
            <a:ext cx="4965700" cy="4648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895" y="164465"/>
            <a:ext cx="4598670" cy="545465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Selenium </a:t>
              </a:r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指纹识别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0" y="791210"/>
            <a:ext cx="11218545" cy="2059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lnSpc>
                <a:spcPct val="160000"/>
              </a:lnSpc>
              <a:buNone/>
            </a:pPr>
            <a:r>
              <a:rPr lang="en-US" altLang="zh-CN" sz="1600"/>
              <a:t>Selenium</a:t>
            </a:r>
            <a:r>
              <a:rPr lang="zh-CN" altLang="en-US" sz="1600"/>
              <a:t>是一种常用的浏览器自动化工具，能够模拟用户的浏览行为进行网页访问和数据抓取</a:t>
            </a:r>
          </a:p>
          <a:p>
            <a:pPr indent="0">
              <a:lnSpc>
                <a:spcPct val="160000"/>
              </a:lnSpc>
              <a:buNone/>
            </a:pPr>
            <a:r>
              <a:rPr lang="zh-CN" altLang="en-US" sz="1600"/>
              <a:t>然而，很多网站可以检测到使用</a:t>
            </a:r>
            <a:r>
              <a:rPr lang="en-US" altLang="zh-CN" sz="1600"/>
              <a:t>Selenium</a:t>
            </a:r>
            <a:r>
              <a:rPr lang="zh-CN" altLang="en-US" sz="1600"/>
              <a:t>驱动的浏览器，这是因为它会留下明显的</a:t>
            </a:r>
            <a:r>
              <a:rPr lang="zh-CN" altLang="en-US" sz="1600" b="1"/>
              <a:t>自动化痕迹</a:t>
            </a:r>
            <a:r>
              <a:rPr lang="zh-CN" altLang="en-US" sz="1600"/>
              <a:t>，即</a:t>
            </a:r>
            <a:r>
              <a:rPr lang="en-US" altLang="zh-CN" sz="1600" b="1"/>
              <a:t>Selenium</a:t>
            </a:r>
            <a:r>
              <a:rPr lang="zh-CN" altLang="en-US" sz="1600" b="1"/>
              <a:t>指纹：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zh-CN" sz="1600"/>
              <a:t>window.navigator.webdriver </a:t>
            </a:r>
            <a:r>
              <a:rPr lang="zh-CN" altLang="en-US" sz="1600"/>
              <a:t>会返回</a:t>
            </a:r>
            <a:r>
              <a:rPr lang="en-US" altLang="zh-CN" sz="1600"/>
              <a:t> true</a:t>
            </a:r>
            <a:r>
              <a:rPr lang="zh-CN" altLang="en-US" sz="1600"/>
              <a:t>，暴露自动化痕迹。</a:t>
            </a:r>
            <a:endParaRPr lang="en-US" altLang="zh-CN" sz="1600"/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浏览器启动参数（无头模式、窗口尺寸）容易被检测。</a:t>
            </a:r>
            <a:endParaRPr lang="en-US" altLang="zh-CN" sz="1600"/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zh-CN" sz="1600"/>
              <a:t>Canvas Fingerprint </a:t>
            </a:r>
            <a:r>
              <a:rPr lang="zh-CN" altLang="en-US" sz="1600"/>
              <a:t>和</a:t>
            </a:r>
            <a:r>
              <a:rPr lang="en-US" altLang="zh-CN" sz="1600"/>
              <a:t> WebGL Fingerprint </a:t>
            </a:r>
            <a:r>
              <a:rPr lang="zh-CN" altLang="en-US" sz="1600"/>
              <a:t>可用于浏览器指纹识别。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895" y="164465"/>
            <a:ext cx="4598670" cy="545465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Selenium </a:t>
              </a:r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指纹识别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4290" y="791210"/>
            <a:ext cx="9283700" cy="842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60000"/>
              </a:spcAft>
            </a:pPr>
            <a:r>
              <a:rPr lang="zh-CN" b="1"/>
              <a:t>应对措施</a:t>
            </a:r>
            <a:r>
              <a:rPr lang="en-US" altLang="zh-CN" b="1"/>
              <a:t>1</a:t>
            </a:r>
            <a:endParaRPr lang="zh-CN" altLang="en-US" b="1"/>
          </a:p>
          <a:p>
            <a:pPr indent="0">
              <a:lnSpc>
                <a:spcPct val="120000"/>
              </a:lnSpc>
              <a:buNone/>
            </a:pPr>
            <a:r>
              <a:rPr lang="zh-CN" altLang="en-US" sz="1600" b="1"/>
              <a:t>隐藏</a:t>
            </a:r>
            <a:r>
              <a:rPr lang="en-US" altLang="zh-CN" sz="1600" b="1"/>
              <a:t> navigator.webdriver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50" y="1830705"/>
            <a:ext cx="6604000" cy="2794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19430" y="4869180"/>
            <a:ext cx="81730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1. --disable-blink-features=AutomationControlled </a:t>
            </a:r>
            <a:r>
              <a:rPr lang="zh-CN" altLang="en-US"/>
              <a:t>是为了关闭默认检测</a:t>
            </a:r>
          </a:p>
          <a:p>
            <a:endParaRPr lang="en-US" altLang="zh-CN"/>
          </a:p>
          <a:p>
            <a:r>
              <a:rPr lang="en-US" altLang="zh-CN"/>
              <a:t>2. </a:t>
            </a:r>
            <a:r>
              <a:rPr lang="zh-CN" altLang="en-US"/>
              <a:t>注入</a:t>
            </a:r>
            <a:r>
              <a:rPr lang="en-US" altLang="zh-CN"/>
              <a:t> JavaScript</a:t>
            </a:r>
            <a:r>
              <a:rPr lang="zh-CN" altLang="en-US"/>
              <a:t>，将</a:t>
            </a:r>
            <a:r>
              <a:rPr lang="en-US" altLang="zh-CN"/>
              <a:t> navigator.webdriver </a:t>
            </a:r>
            <a:r>
              <a:rPr lang="zh-CN" altLang="en-US"/>
              <a:t>伪装成</a:t>
            </a:r>
            <a:r>
              <a:rPr lang="en-US" altLang="zh-CN"/>
              <a:t> undefined</a:t>
            </a:r>
            <a:r>
              <a:rPr lang="zh-CN" altLang="en-US"/>
              <a:t>，躲过检测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895" y="164465"/>
            <a:ext cx="4598670" cy="545465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Selenium </a:t>
              </a:r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指纹识别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4290" y="791210"/>
            <a:ext cx="10934065" cy="842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60000"/>
              </a:spcAft>
            </a:pPr>
            <a:r>
              <a:rPr lang="zh-CN" b="1"/>
              <a:t>应对措施</a:t>
            </a:r>
            <a:r>
              <a:rPr lang="en-US" altLang="zh-CN" b="1"/>
              <a:t>2</a:t>
            </a:r>
            <a:endParaRPr lang="zh-CN" altLang="en-US" b="1"/>
          </a:p>
          <a:p>
            <a:pPr indent="0">
              <a:lnSpc>
                <a:spcPct val="120000"/>
              </a:lnSpc>
              <a:buNone/>
            </a:pPr>
            <a:r>
              <a:rPr lang="zh-CN" altLang="en-US" sz="1600" b="1"/>
              <a:t>伪装</a:t>
            </a:r>
            <a:r>
              <a:rPr lang="en-US" altLang="zh-CN" sz="1600" b="1"/>
              <a:t> WebGL</a:t>
            </a:r>
            <a:r>
              <a:rPr lang="zh-CN" altLang="en-US" sz="1600" b="1"/>
              <a:t>和</a:t>
            </a:r>
            <a:r>
              <a:rPr lang="en-US" altLang="zh-CN" sz="1600" b="1"/>
              <a:t>Canvas</a:t>
            </a:r>
            <a:r>
              <a:rPr lang="zh-CN" altLang="en-US" sz="1600" b="1"/>
              <a:t>。</a:t>
            </a:r>
            <a:r>
              <a:rPr lang="zh-CN" altLang="en-US" sz="1600"/>
              <a:t>一些网站会通过绘图检测浏览器指纹，可以使用</a:t>
            </a:r>
            <a:r>
              <a:rPr lang="en-US" altLang="zh-CN" sz="1600"/>
              <a:t> Canvas </a:t>
            </a:r>
            <a:r>
              <a:rPr lang="zh-CN" altLang="en-US" sz="1600"/>
              <a:t>抹除</a:t>
            </a:r>
            <a:r>
              <a:rPr lang="en-US" altLang="zh-CN" sz="1600" b="1"/>
              <a:t>JavaScript</a:t>
            </a:r>
            <a:r>
              <a:rPr lang="zh-CN" altLang="en-US" sz="1600"/>
              <a:t>中的这些指纹。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40055" y="3583305"/>
            <a:ext cx="10528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通过修改</a:t>
            </a:r>
            <a:r>
              <a:rPr lang="en-US" altLang="zh-CN"/>
              <a:t> Canvas </a:t>
            </a:r>
            <a:r>
              <a:rPr lang="zh-CN" altLang="en-US"/>
              <a:t>的</a:t>
            </a:r>
            <a:r>
              <a:rPr lang="en-US" altLang="zh-CN"/>
              <a:t> toDataURL </a:t>
            </a:r>
            <a:r>
              <a:rPr lang="zh-CN" altLang="en-US"/>
              <a:t>方法，使其返回固定的字符串，避免被检测到真实渲染信息。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830" y="1931035"/>
            <a:ext cx="5162550" cy="1092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895" y="164465"/>
            <a:ext cx="4598670" cy="545465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Selenium </a:t>
              </a:r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指纹识别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4290" y="791210"/>
            <a:ext cx="10934065" cy="842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60000"/>
              </a:spcAft>
            </a:pPr>
            <a:r>
              <a:rPr lang="zh-CN" b="1"/>
              <a:t>应对措施</a:t>
            </a:r>
            <a:r>
              <a:rPr lang="en-US" altLang="zh-CN" b="1"/>
              <a:t>3</a:t>
            </a:r>
            <a:endParaRPr lang="zh-CN" altLang="en-US" b="1"/>
          </a:p>
          <a:p>
            <a:pPr indent="0">
              <a:lnSpc>
                <a:spcPct val="120000"/>
              </a:lnSpc>
              <a:buNone/>
            </a:pPr>
            <a:r>
              <a:rPr lang="zh-CN" altLang="en-US" sz="1600" b="1"/>
              <a:t>模拟真实用户操作。</a:t>
            </a:r>
            <a:r>
              <a:rPr lang="zh-CN" altLang="en-US" sz="1600"/>
              <a:t>网站有时会检测鼠标轨迹和页面停留时间，可以通过</a:t>
            </a:r>
            <a:r>
              <a:rPr lang="en-US" altLang="zh-CN" sz="1600"/>
              <a:t> Selenium </a:t>
            </a:r>
            <a:r>
              <a:rPr lang="zh-CN" altLang="en-US" sz="1600"/>
              <a:t>的</a:t>
            </a:r>
            <a:r>
              <a:rPr lang="en-US" altLang="zh-CN" sz="1600"/>
              <a:t> ActionChains </a:t>
            </a:r>
            <a:r>
              <a:rPr lang="zh-CN" altLang="en-US" sz="1600"/>
              <a:t>来模拟自然行为：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055" y="1889125"/>
            <a:ext cx="4959350" cy="21399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51155" y="4893310"/>
            <a:ext cx="91268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1. </a:t>
            </a:r>
            <a:r>
              <a:rPr lang="zh-CN" altLang="en-US"/>
              <a:t>增加</a:t>
            </a:r>
            <a:r>
              <a:rPr lang="en-US" altLang="zh-CN"/>
              <a:t> time.sleep </a:t>
            </a:r>
            <a:r>
              <a:rPr lang="zh-CN" altLang="en-US"/>
              <a:t>模拟真实用户的停顿</a:t>
            </a:r>
          </a:p>
          <a:p>
            <a:endParaRPr lang="en-US" altLang="zh-CN"/>
          </a:p>
          <a:p>
            <a:r>
              <a:rPr lang="en-US" altLang="zh-CN"/>
              <a:t>2. </a:t>
            </a:r>
            <a:r>
              <a:rPr lang="zh-CN" altLang="en-US"/>
              <a:t>使用</a:t>
            </a:r>
            <a:r>
              <a:rPr lang="en-US" altLang="zh-CN"/>
              <a:t> move_to_element </a:t>
            </a:r>
            <a:r>
              <a:rPr lang="zh-CN" altLang="en-US"/>
              <a:t>慢慢移动到按钮上再点击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3578" y="1856853"/>
            <a:ext cx="7831800" cy="3945708"/>
            <a:chOff x="0" y="1826249"/>
            <a:chExt cx="5642446" cy="2910546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874471"/>
              <a:ext cx="5634402" cy="2862324"/>
            </a:xfrm>
            <a:prstGeom prst="rect">
              <a:avLst/>
            </a:prstGeom>
          </p:spPr>
        </p:pic>
        <p:sp>
          <p:nvSpPr>
            <p:cNvPr id="15" name="等腰三角形 14"/>
            <p:cNvSpPr/>
            <p:nvPr/>
          </p:nvSpPr>
          <p:spPr>
            <a:xfrm rot="10800000">
              <a:off x="4051063" y="1826249"/>
              <a:ext cx="1591383" cy="2908243"/>
            </a:xfrm>
            <a:prstGeom prst="triangle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矩形 1"/>
          <p:cNvSpPr/>
          <p:nvPr/>
        </p:nvSpPr>
        <p:spPr>
          <a:xfrm>
            <a:off x="2773322" y="2468330"/>
            <a:ext cx="7152117" cy="2784309"/>
          </a:xfrm>
          <a:custGeom>
            <a:avLst/>
            <a:gdLst>
              <a:gd name="connsiteX0" fmla="*/ 0 w 4211960"/>
              <a:gd name="connsiteY0" fmla="*/ 0 h 2088232"/>
              <a:gd name="connsiteX1" fmla="*/ 4211960 w 4211960"/>
              <a:gd name="connsiteY1" fmla="*/ 0 h 2088232"/>
              <a:gd name="connsiteX2" fmla="*/ 4211960 w 4211960"/>
              <a:gd name="connsiteY2" fmla="*/ 2088232 h 2088232"/>
              <a:gd name="connsiteX3" fmla="*/ 0 w 4211960"/>
              <a:gd name="connsiteY3" fmla="*/ 2088232 h 2088232"/>
              <a:gd name="connsiteX4" fmla="*/ 0 w 4211960"/>
              <a:gd name="connsiteY4" fmla="*/ 0 h 2088232"/>
              <a:gd name="connsiteX0-1" fmla="*/ 0 w 4211960"/>
              <a:gd name="connsiteY0-2" fmla="*/ 0 h 2088232"/>
              <a:gd name="connsiteX1-3" fmla="*/ 3101133 w 4211960"/>
              <a:gd name="connsiteY1-4" fmla="*/ 0 h 2088232"/>
              <a:gd name="connsiteX2-5" fmla="*/ 4211960 w 4211960"/>
              <a:gd name="connsiteY2-6" fmla="*/ 2088232 h 2088232"/>
              <a:gd name="connsiteX3-7" fmla="*/ 0 w 4211960"/>
              <a:gd name="connsiteY3-8" fmla="*/ 2088232 h 2088232"/>
              <a:gd name="connsiteX4-9" fmla="*/ 0 w 4211960"/>
              <a:gd name="connsiteY4-10" fmla="*/ 0 h 2088232"/>
              <a:gd name="connsiteX0-11" fmla="*/ 0 w 4211960"/>
              <a:gd name="connsiteY0-12" fmla="*/ 0 h 2088232"/>
              <a:gd name="connsiteX1-13" fmla="*/ 3281963 w 4211960"/>
              <a:gd name="connsiteY1-14" fmla="*/ 0 h 2088232"/>
              <a:gd name="connsiteX2-15" fmla="*/ 4211960 w 4211960"/>
              <a:gd name="connsiteY2-16" fmla="*/ 2088232 h 2088232"/>
              <a:gd name="connsiteX3-17" fmla="*/ 0 w 4211960"/>
              <a:gd name="connsiteY3-18" fmla="*/ 2088232 h 2088232"/>
              <a:gd name="connsiteX4-19" fmla="*/ 0 w 4211960"/>
              <a:gd name="connsiteY4-20" fmla="*/ 0 h 2088232"/>
              <a:gd name="connsiteX0-21" fmla="*/ 0 w 4211960"/>
              <a:gd name="connsiteY0-22" fmla="*/ 0 h 2088232"/>
              <a:gd name="connsiteX1-23" fmla="*/ 3319192 w 4211960"/>
              <a:gd name="connsiteY1-24" fmla="*/ 0 h 2088232"/>
              <a:gd name="connsiteX2-25" fmla="*/ 4211960 w 4211960"/>
              <a:gd name="connsiteY2-26" fmla="*/ 2088232 h 2088232"/>
              <a:gd name="connsiteX3-27" fmla="*/ 0 w 4211960"/>
              <a:gd name="connsiteY3-28" fmla="*/ 2088232 h 2088232"/>
              <a:gd name="connsiteX4-29" fmla="*/ 0 w 4211960"/>
              <a:gd name="connsiteY4-30" fmla="*/ 0 h 20882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211960" h="2088232">
                <a:moveTo>
                  <a:pt x="0" y="0"/>
                </a:moveTo>
                <a:lnTo>
                  <a:pt x="3319192" y="0"/>
                </a:lnTo>
                <a:lnTo>
                  <a:pt x="4211960" y="2088232"/>
                </a:lnTo>
                <a:lnTo>
                  <a:pt x="0" y="2088232"/>
                </a:lnTo>
                <a:lnTo>
                  <a:pt x="0" y="0"/>
                </a:lnTo>
                <a:close/>
              </a:path>
            </a:pathLst>
          </a:custGeom>
          <a:solidFill>
            <a:srgbClr val="0163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8" name="文本框 17"/>
          <p:cNvSpPr txBox="1"/>
          <p:nvPr/>
        </p:nvSpPr>
        <p:spPr>
          <a:xfrm>
            <a:off x="1007435" y="3121821"/>
            <a:ext cx="428582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方正黑体简体" panose="02010601030101010101" pitchFamily="2" charset="-122"/>
                <a:ea typeface="方正黑体简体" panose="02010601030101010101" pitchFamily="2" charset="-122"/>
              </a:rPr>
              <a:t>实战思路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286959" y="3389379"/>
            <a:ext cx="1572251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8000" dirty="0">
                <a:solidFill>
                  <a:schemeClr val="bg1"/>
                </a:solidFill>
                <a:latin typeface="Stencil Std" panose="04020904080802020404" pitchFamily="82" charset="0"/>
                <a:ea typeface="方正黑体简体" panose="02010601030101010101" pitchFamily="2" charset="-122"/>
              </a:rPr>
              <a:t>03</a:t>
            </a:r>
            <a:endParaRPr lang="zh-CN" altLang="en-US" sz="8000" dirty="0">
              <a:solidFill>
                <a:schemeClr val="bg1"/>
              </a:solidFill>
              <a:latin typeface="Stencil Std" panose="04020904080802020404" pitchFamily="82" charset="0"/>
              <a:ea typeface="方正黑体简体" panose="02010601030101010101" pitchFamily="2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8759054" y="1796819"/>
            <a:ext cx="2760644" cy="5061181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6008914" y="0"/>
            <a:ext cx="1204562" cy="2180580"/>
          </a:xfrm>
          <a:prstGeom prst="line">
            <a:avLst/>
          </a:prstGeom>
          <a:ln w="19050">
            <a:solidFill>
              <a:srgbClr val="0163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实战思路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2380" y="164591"/>
            <a:ext cx="1028733" cy="10287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23520" y="973455"/>
            <a:ext cx="10766425" cy="403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/>
              <a:t>结合前面知识点，寻找任意网站（如豆瓣、</a:t>
            </a:r>
            <a:r>
              <a:rPr lang="en-US" altLang="zh-CN" sz="1600"/>
              <a:t>bilibili</a:t>
            </a:r>
            <a:r>
              <a:rPr lang="zh-CN" altLang="en-US" sz="1600"/>
              <a:t>），汇总可以完整模拟爬虫从请求到应对反爬的全流程</a:t>
            </a:r>
          </a:p>
          <a:p>
            <a:endParaRPr lang="zh-CN" altLang="en-US" sz="1600"/>
          </a:p>
          <a:p>
            <a:r>
              <a:rPr lang="en-US" altLang="zh-CN" sz="1600" b="1"/>
              <a:t>1. HTTP </a:t>
            </a:r>
            <a:r>
              <a:rPr lang="zh-CN" altLang="en-US" sz="1600" b="1"/>
              <a:t>请求伪装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设置</a:t>
            </a:r>
            <a:r>
              <a:rPr lang="en-US" altLang="zh-CN" sz="1600"/>
              <a:t> User-Agent</a:t>
            </a:r>
            <a:r>
              <a:rPr lang="zh-CN" altLang="en-US" sz="1600"/>
              <a:t>、</a:t>
            </a:r>
            <a:r>
              <a:rPr lang="en-US" altLang="zh-CN" sz="1600"/>
              <a:t>Referer</a:t>
            </a:r>
            <a:r>
              <a:rPr lang="zh-CN" altLang="en-US" sz="1600"/>
              <a:t>、</a:t>
            </a:r>
            <a:r>
              <a:rPr lang="en-US" altLang="zh-CN" sz="1600"/>
              <a:t>Cookie</a:t>
            </a:r>
            <a:r>
              <a:rPr lang="zh-CN" altLang="en-US" sz="1600"/>
              <a:t>，模拟浏览器访问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请求页面，观察状态码与返回内容</a:t>
            </a:r>
          </a:p>
          <a:p>
            <a:endParaRPr lang="zh-CN" altLang="en-US" sz="1600"/>
          </a:p>
          <a:p>
            <a:r>
              <a:rPr lang="en-US" altLang="zh-CN" sz="1600" b="1"/>
              <a:t>2. </a:t>
            </a:r>
            <a:r>
              <a:rPr lang="zh-CN" altLang="en-US" sz="1600" b="1"/>
              <a:t>代理池管理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构建简单代理池，通过轮询代理</a:t>
            </a:r>
            <a:r>
              <a:rPr lang="en-US" altLang="zh-CN" sz="1600"/>
              <a:t> IP </a:t>
            </a:r>
            <a:r>
              <a:rPr lang="zh-CN" altLang="en-US" sz="1600"/>
              <a:t>避免封禁</a:t>
            </a:r>
          </a:p>
          <a:p>
            <a:endParaRPr lang="zh-CN" altLang="en-US" sz="1600"/>
          </a:p>
          <a:p>
            <a:r>
              <a:rPr lang="en-US" altLang="zh-CN" sz="1600" b="1"/>
              <a:t>3. </a:t>
            </a:r>
            <a:r>
              <a:rPr lang="zh-CN" altLang="en-US" sz="1600" b="1"/>
              <a:t>验证码破解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使用</a:t>
            </a:r>
            <a:r>
              <a:rPr lang="en-US" altLang="zh-CN" sz="1600"/>
              <a:t> pytesseract </a:t>
            </a:r>
            <a:r>
              <a:rPr lang="zh-CN" altLang="en-US" sz="1600"/>
              <a:t>进行简单的</a:t>
            </a:r>
            <a:r>
              <a:rPr lang="en-US" altLang="zh-CN" sz="1600"/>
              <a:t> OCR </a:t>
            </a:r>
            <a:r>
              <a:rPr lang="zh-CN" altLang="en-US" sz="1600"/>
              <a:t>识别</a:t>
            </a:r>
            <a:endParaRPr lang="en-US" altLang="zh-CN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如果失败，演示手动输入验证码继续爬取</a:t>
            </a:r>
          </a:p>
          <a:p>
            <a:endParaRPr lang="zh-CN" altLang="en-US" sz="1600"/>
          </a:p>
          <a:p>
            <a:r>
              <a:rPr lang="en-US" altLang="zh-CN" sz="1600" b="1"/>
              <a:t>4. Selenium </a:t>
            </a:r>
            <a:r>
              <a:rPr lang="zh-CN" altLang="en-US" sz="1600" b="1"/>
              <a:t>隐匿执行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启动伪装后的</a:t>
            </a:r>
            <a:r>
              <a:rPr lang="en-US" altLang="zh-CN" sz="1600"/>
              <a:t> Selenium </a:t>
            </a:r>
            <a:r>
              <a:rPr lang="zh-CN" altLang="en-US" sz="1600"/>
              <a:t>浏览器，隐藏自动化特征</a:t>
            </a:r>
            <a:endParaRPr lang="en-US" altLang="zh-CN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访问目标页面，验证是否能加载并获取数据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3578" y="1856853"/>
            <a:ext cx="7831800" cy="3945708"/>
            <a:chOff x="0" y="1826249"/>
            <a:chExt cx="5642446" cy="2910546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874471"/>
              <a:ext cx="5634402" cy="2862324"/>
            </a:xfrm>
            <a:prstGeom prst="rect">
              <a:avLst/>
            </a:prstGeom>
          </p:spPr>
        </p:pic>
        <p:sp>
          <p:nvSpPr>
            <p:cNvPr id="15" name="等腰三角形 14"/>
            <p:cNvSpPr/>
            <p:nvPr/>
          </p:nvSpPr>
          <p:spPr>
            <a:xfrm rot="10800000">
              <a:off x="4051063" y="1826249"/>
              <a:ext cx="1591383" cy="2908243"/>
            </a:xfrm>
            <a:prstGeom prst="triangle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矩形 1"/>
          <p:cNvSpPr/>
          <p:nvPr/>
        </p:nvSpPr>
        <p:spPr>
          <a:xfrm>
            <a:off x="2773322" y="2468330"/>
            <a:ext cx="7152117" cy="2784309"/>
          </a:xfrm>
          <a:custGeom>
            <a:avLst/>
            <a:gdLst>
              <a:gd name="connsiteX0" fmla="*/ 0 w 4211960"/>
              <a:gd name="connsiteY0" fmla="*/ 0 h 2088232"/>
              <a:gd name="connsiteX1" fmla="*/ 4211960 w 4211960"/>
              <a:gd name="connsiteY1" fmla="*/ 0 h 2088232"/>
              <a:gd name="connsiteX2" fmla="*/ 4211960 w 4211960"/>
              <a:gd name="connsiteY2" fmla="*/ 2088232 h 2088232"/>
              <a:gd name="connsiteX3" fmla="*/ 0 w 4211960"/>
              <a:gd name="connsiteY3" fmla="*/ 2088232 h 2088232"/>
              <a:gd name="connsiteX4" fmla="*/ 0 w 4211960"/>
              <a:gd name="connsiteY4" fmla="*/ 0 h 2088232"/>
              <a:gd name="connsiteX0-1" fmla="*/ 0 w 4211960"/>
              <a:gd name="connsiteY0-2" fmla="*/ 0 h 2088232"/>
              <a:gd name="connsiteX1-3" fmla="*/ 3101133 w 4211960"/>
              <a:gd name="connsiteY1-4" fmla="*/ 0 h 2088232"/>
              <a:gd name="connsiteX2-5" fmla="*/ 4211960 w 4211960"/>
              <a:gd name="connsiteY2-6" fmla="*/ 2088232 h 2088232"/>
              <a:gd name="connsiteX3-7" fmla="*/ 0 w 4211960"/>
              <a:gd name="connsiteY3-8" fmla="*/ 2088232 h 2088232"/>
              <a:gd name="connsiteX4-9" fmla="*/ 0 w 4211960"/>
              <a:gd name="connsiteY4-10" fmla="*/ 0 h 2088232"/>
              <a:gd name="connsiteX0-11" fmla="*/ 0 w 4211960"/>
              <a:gd name="connsiteY0-12" fmla="*/ 0 h 2088232"/>
              <a:gd name="connsiteX1-13" fmla="*/ 3281963 w 4211960"/>
              <a:gd name="connsiteY1-14" fmla="*/ 0 h 2088232"/>
              <a:gd name="connsiteX2-15" fmla="*/ 4211960 w 4211960"/>
              <a:gd name="connsiteY2-16" fmla="*/ 2088232 h 2088232"/>
              <a:gd name="connsiteX3-17" fmla="*/ 0 w 4211960"/>
              <a:gd name="connsiteY3-18" fmla="*/ 2088232 h 2088232"/>
              <a:gd name="connsiteX4-19" fmla="*/ 0 w 4211960"/>
              <a:gd name="connsiteY4-20" fmla="*/ 0 h 2088232"/>
              <a:gd name="connsiteX0-21" fmla="*/ 0 w 4211960"/>
              <a:gd name="connsiteY0-22" fmla="*/ 0 h 2088232"/>
              <a:gd name="connsiteX1-23" fmla="*/ 3319192 w 4211960"/>
              <a:gd name="connsiteY1-24" fmla="*/ 0 h 2088232"/>
              <a:gd name="connsiteX2-25" fmla="*/ 4211960 w 4211960"/>
              <a:gd name="connsiteY2-26" fmla="*/ 2088232 h 2088232"/>
              <a:gd name="connsiteX3-27" fmla="*/ 0 w 4211960"/>
              <a:gd name="connsiteY3-28" fmla="*/ 2088232 h 2088232"/>
              <a:gd name="connsiteX4-29" fmla="*/ 0 w 4211960"/>
              <a:gd name="connsiteY4-30" fmla="*/ 0 h 20882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211960" h="2088232">
                <a:moveTo>
                  <a:pt x="0" y="0"/>
                </a:moveTo>
                <a:lnTo>
                  <a:pt x="3319192" y="0"/>
                </a:lnTo>
                <a:lnTo>
                  <a:pt x="4211960" y="2088232"/>
                </a:lnTo>
                <a:lnTo>
                  <a:pt x="0" y="2088232"/>
                </a:lnTo>
                <a:lnTo>
                  <a:pt x="0" y="0"/>
                </a:lnTo>
                <a:close/>
              </a:path>
            </a:pathLst>
          </a:custGeom>
          <a:solidFill>
            <a:srgbClr val="0163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8" name="文本框 17"/>
          <p:cNvSpPr txBox="1"/>
          <p:nvPr/>
        </p:nvSpPr>
        <p:spPr>
          <a:xfrm>
            <a:off x="1007435" y="3121821"/>
            <a:ext cx="428582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方正黑体简体" panose="02010601030101010101" pitchFamily="2" charset="-122"/>
                <a:ea typeface="方正黑体简体" panose="02010601030101010101" pitchFamily="2" charset="-122"/>
              </a:rPr>
              <a:t>拓展练习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286959" y="3389379"/>
            <a:ext cx="1572251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8000" dirty="0">
                <a:solidFill>
                  <a:schemeClr val="bg1"/>
                </a:solidFill>
                <a:latin typeface="Stencil Std" panose="04020904080802020404" pitchFamily="82" charset="0"/>
                <a:ea typeface="方正黑体简体" panose="02010601030101010101" pitchFamily="2" charset="-122"/>
              </a:rPr>
              <a:t>04</a:t>
            </a:r>
            <a:endParaRPr lang="zh-CN" altLang="en-US" sz="8000" dirty="0">
              <a:solidFill>
                <a:schemeClr val="bg1"/>
              </a:solidFill>
              <a:latin typeface="Stencil Std" panose="04020904080802020404" pitchFamily="82" charset="0"/>
              <a:ea typeface="方正黑体简体" panose="02010601030101010101" pitchFamily="2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8759054" y="1796819"/>
            <a:ext cx="2760644" cy="5061181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6008914" y="0"/>
            <a:ext cx="1204562" cy="2180580"/>
          </a:xfrm>
          <a:prstGeom prst="line">
            <a:avLst/>
          </a:prstGeom>
          <a:ln w="19050">
            <a:solidFill>
              <a:srgbClr val="0163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895" y="164465"/>
            <a:ext cx="3193415" cy="545465"/>
            <a:chOff x="-36512" y="123478"/>
            <a:chExt cx="2094071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2054"/>
              <a:ext cx="2094071" cy="283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拓展</a:t>
              </a:r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练习</a:t>
              </a:r>
              <a:endParaRPr lang="zh-CN" sz="1865" dirty="0">
                <a:solidFill>
                  <a:schemeClr val="bg1"/>
                </a:solidFill>
                <a:latin typeface="方正黑体简体" panose="02010601030101010101" pitchFamily="2" charset="-122"/>
                <a:ea typeface="方正黑体简体" panose="02010601030101010101" pitchFamily="2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61035" y="1122045"/>
            <a:ext cx="7778750" cy="865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/>
              <a:t>1. </a:t>
            </a:r>
            <a:r>
              <a:rPr lang="zh-CN"/>
              <a:t>熟悉主流反爬的应对措施</a:t>
            </a:r>
          </a:p>
          <a:p>
            <a:pPr>
              <a:lnSpc>
                <a:spcPct val="140000"/>
              </a:lnSpc>
            </a:pPr>
            <a:r>
              <a:rPr lang="en-US" altLang="zh-CN"/>
              <a:t>2. </a:t>
            </a:r>
            <a:r>
              <a:rPr lang="zh-CN" altLang="en-US"/>
              <a:t>尝试结合各种反爬措施，成功爬取任意一个包含简单反爬功能的网站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jcyNTc2YzlhNDFjMjczNzQwNDkxZWVkNTdhNjA3YT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1257</Words>
  <Application>Microsoft Office PowerPoint</Application>
  <PresentationFormat>宽屏</PresentationFormat>
  <Paragraphs>190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Alibaba PuHuiTi R</vt:lpstr>
      <vt:lpstr>Stencil Std</vt:lpstr>
      <vt:lpstr>等线</vt:lpstr>
      <vt:lpstr>等线 Light</vt:lpstr>
      <vt:lpstr>方正黑体简体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Junhao ZHANG</cp:lastModifiedBy>
  <cp:revision>263</cp:revision>
  <dcterms:created xsi:type="dcterms:W3CDTF">2023-10-28T05:40:00Z</dcterms:created>
  <dcterms:modified xsi:type="dcterms:W3CDTF">2026-07-06T07:50:50Z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8AEF69F717F259CFE39E3C65F5086652</vt:lpwstr>
  </property>
  <property fmtid="{D5CDD505-2E9C-101B-9397-08002B2CF9AE}" pid="3" name="KSOProductBuildVer">
    <vt:lpwstr>2052-12.1.0.21171</vt:lpwstr>
  </property>
</Properties>
</file>