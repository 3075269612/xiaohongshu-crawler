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333" r:id="rId2"/>
    <p:sldId id="334" r:id="rId3"/>
    <p:sldId id="335" r:id="rId4"/>
    <p:sldId id="336" r:id="rId5"/>
    <p:sldId id="353" r:id="rId6"/>
    <p:sldId id="354" r:id="rId7"/>
    <p:sldId id="349" r:id="rId8"/>
    <p:sldId id="351" r:id="rId9"/>
    <p:sldId id="355" r:id="rId10"/>
    <p:sldId id="362" r:id="rId11"/>
    <p:sldId id="310" r:id="rId12"/>
    <p:sldId id="340" r:id="rId13"/>
    <p:sldId id="359" r:id="rId14"/>
    <p:sldId id="356" r:id="rId15"/>
    <p:sldId id="357" r:id="rId16"/>
    <p:sldId id="358" r:id="rId17"/>
    <p:sldId id="360" r:id="rId18"/>
    <p:sldId id="363" r:id="rId19"/>
    <p:sldId id="364" r:id="rId20"/>
    <p:sldId id="365" r:id="rId21"/>
    <p:sldId id="366" r:id="rId22"/>
    <p:sldId id="367" r:id="rId23"/>
    <p:sldId id="337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371"/>
    <a:srgbClr val="00CEEA"/>
    <a:srgbClr val="D9FAFF"/>
    <a:srgbClr val="BDFFFD"/>
    <a:srgbClr val="01A1B7"/>
    <a:srgbClr val="02B6CE"/>
    <a:srgbClr val="018091"/>
    <a:srgbClr val="018A9D"/>
    <a:srgbClr val="ADFDF0"/>
    <a:srgbClr val="57F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86" autoAdjust="0"/>
    <p:restoredTop sz="75170" autoAdjust="0"/>
  </p:normalViewPr>
  <p:slideViewPr>
    <p:cSldViewPr snapToGrid="0">
      <p:cViewPr varScale="1">
        <p:scale>
          <a:sx n="66" d="100"/>
          <a:sy n="66" d="100"/>
        </p:scale>
        <p:origin x="119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D39DD-DA48-48EB-BF0E-974F06DD747B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430CC-CF76-4512-9E43-F5E43EF3EE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430CC-CF76-4512-9E43-F5E43EF3EED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34CA0-1ACF-4E48-908C-0E11039CEE14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9365D-D755-491E-A0E7-096553F9A3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3.jpe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2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flipH="1">
            <a:off x="0" y="0"/>
            <a:ext cx="12192000" cy="6858001"/>
            <a:chOff x="2" y="0"/>
            <a:chExt cx="12192000" cy="6858001"/>
          </a:xfrm>
        </p:grpSpPr>
        <p:grpSp>
          <p:nvGrpSpPr>
            <p:cNvPr id="5" name="组合 4"/>
            <p:cNvGrpSpPr/>
            <p:nvPr/>
          </p:nvGrpSpPr>
          <p:grpSpPr>
            <a:xfrm>
              <a:off x="2" y="0"/>
              <a:ext cx="3135084" cy="5941181"/>
              <a:chOff x="0" y="0"/>
              <a:chExt cx="2590667" cy="4976958"/>
            </a:xfrm>
          </p:grpSpPr>
          <p:sp>
            <p:nvSpPr>
              <p:cNvPr id="9" name="矩形 1"/>
              <p:cNvSpPr/>
              <p:nvPr/>
            </p:nvSpPr>
            <p:spPr>
              <a:xfrm>
                <a:off x="0" y="0"/>
                <a:ext cx="2590667" cy="4976958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0 h 3689577"/>
                  <a:gd name="connsiteX1-3" fmla="*/ 2278743 w 2278743"/>
                  <a:gd name="connsiteY1-4" fmla="*/ 0 h 3689577"/>
                  <a:gd name="connsiteX2-5" fmla="*/ 0 w 2278743"/>
                  <a:gd name="connsiteY2-6" fmla="*/ 3689577 h 3689577"/>
                  <a:gd name="connsiteX3-7" fmla="*/ 0 w 2278743"/>
                  <a:gd name="connsiteY3-8" fmla="*/ 0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0"/>
                    </a:moveTo>
                    <a:lnTo>
                      <a:pt x="2278743" y="0"/>
                    </a:lnTo>
                    <a:lnTo>
                      <a:pt x="0" y="36895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8A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10" name="矩形 1"/>
              <p:cNvSpPr/>
              <p:nvPr/>
            </p:nvSpPr>
            <p:spPr>
              <a:xfrm>
                <a:off x="0" y="0"/>
                <a:ext cx="2590667" cy="3689577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0 h 3689577"/>
                  <a:gd name="connsiteX1-3" fmla="*/ 2278743 w 2278743"/>
                  <a:gd name="connsiteY1-4" fmla="*/ 0 h 3689577"/>
                  <a:gd name="connsiteX2-5" fmla="*/ 0 w 2278743"/>
                  <a:gd name="connsiteY2-6" fmla="*/ 3689577 h 3689577"/>
                  <a:gd name="connsiteX3-7" fmla="*/ 0 w 2278743"/>
                  <a:gd name="connsiteY3-8" fmla="*/ 0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0"/>
                    </a:moveTo>
                    <a:lnTo>
                      <a:pt x="2278743" y="0"/>
                    </a:lnTo>
                    <a:lnTo>
                      <a:pt x="0" y="36895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63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463315" y="1664306"/>
              <a:ext cx="2728687" cy="5193695"/>
              <a:chOff x="7715421" y="1884933"/>
              <a:chExt cx="1428579" cy="3258567"/>
            </a:xfrm>
          </p:grpSpPr>
          <p:sp>
            <p:nvSpPr>
              <p:cNvPr id="7" name="矩形 10"/>
              <p:cNvSpPr/>
              <p:nvPr/>
            </p:nvSpPr>
            <p:spPr>
              <a:xfrm>
                <a:off x="7715421" y="1884933"/>
                <a:ext cx="1428579" cy="3258567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3689577 h 3689577"/>
                  <a:gd name="connsiteX1-3" fmla="*/ 2278743 w 2278743"/>
                  <a:gd name="connsiteY1-4" fmla="*/ 0 h 3689577"/>
                  <a:gd name="connsiteX2-5" fmla="*/ 2278743 w 2278743"/>
                  <a:gd name="connsiteY2-6" fmla="*/ 3689577 h 3689577"/>
                  <a:gd name="connsiteX3-7" fmla="*/ 0 w 2278743"/>
                  <a:gd name="connsiteY3-8" fmla="*/ 3689577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3689577"/>
                    </a:moveTo>
                    <a:lnTo>
                      <a:pt x="2278743" y="0"/>
                    </a:lnTo>
                    <a:lnTo>
                      <a:pt x="2278743" y="3689577"/>
                    </a:lnTo>
                    <a:lnTo>
                      <a:pt x="0" y="3689577"/>
                    </a:lnTo>
                    <a:close/>
                  </a:path>
                </a:pathLst>
              </a:custGeom>
              <a:solidFill>
                <a:srgbClr val="018A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8" name="矩形 10"/>
              <p:cNvSpPr/>
              <p:nvPr/>
            </p:nvSpPr>
            <p:spPr>
              <a:xfrm>
                <a:off x="7715421" y="2606134"/>
                <a:ext cx="1428579" cy="2537366"/>
              </a:xfrm>
              <a:custGeom>
                <a:avLst/>
                <a:gdLst>
                  <a:gd name="connsiteX0" fmla="*/ 0 w 2278743"/>
                  <a:gd name="connsiteY0" fmla="*/ 0 h 3689577"/>
                  <a:gd name="connsiteX1" fmla="*/ 2278743 w 2278743"/>
                  <a:gd name="connsiteY1" fmla="*/ 0 h 3689577"/>
                  <a:gd name="connsiteX2" fmla="*/ 2278743 w 2278743"/>
                  <a:gd name="connsiteY2" fmla="*/ 3689577 h 3689577"/>
                  <a:gd name="connsiteX3" fmla="*/ 0 w 2278743"/>
                  <a:gd name="connsiteY3" fmla="*/ 3689577 h 3689577"/>
                  <a:gd name="connsiteX4" fmla="*/ 0 w 2278743"/>
                  <a:gd name="connsiteY4" fmla="*/ 0 h 3689577"/>
                  <a:gd name="connsiteX0-1" fmla="*/ 0 w 2278743"/>
                  <a:gd name="connsiteY0-2" fmla="*/ 3689577 h 3689577"/>
                  <a:gd name="connsiteX1-3" fmla="*/ 2278743 w 2278743"/>
                  <a:gd name="connsiteY1-4" fmla="*/ 0 h 3689577"/>
                  <a:gd name="connsiteX2-5" fmla="*/ 2278743 w 2278743"/>
                  <a:gd name="connsiteY2-6" fmla="*/ 3689577 h 3689577"/>
                  <a:gd name="connsiteX3-7" fmla="*/ 0 w 2278743"/>
                  <a:gd name="connsiteY3-8" fmla="*/ 3689577 h 368957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2278743" h="3689577">
                    <a:moveTo>
                      <a:pt x="0" y="3689577"/>
                    </a:moveTo>
                    <a:lnTo>
                      <a:pt x="2278743" y="0"/>
                    </a:lnTo>
                    <a:lnTo>
                      <a:pt x="2278743" y="3689577"/>
                    </a:lnTo>
                    <a:lnTo>
                      <a:pt x="0" y="3689577"/>
                    </a:lnTo>
                    <a:close/>
                  </a:path>
                </a:pathLst>
              </a:custGeom>
              <a:solidFill>
                <a:srgbClr val="0163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文本框 10"/>
          <p:cNvSpPr txBox="1"/>
          <p:nvPr/>
        </p:nvSpPr>
        <p:spPr>
          <a:xfrm>
            <a:off x="1028700" y="2813685"/>
            <a:ext cx="98653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>
                <a:gradFill flip="none" rotWithShape="1">
                  <a:gsLst>
                    <a:gs pos="53000">
                      <a:srgbClr val="FFC000"/>
                    </a:gs>
                    <a:gs pos="84000">
                      <a:schemeClr val="accent6">
                        <a:lumMod val="0"/>
                        <a:lumOff val="100000"/>
                      </a:schemeClr>
                    </a:gs>
                    <a:gs pos="20000">
                      <a:srgbClr val="FF9900"/>
                    </a:gs>
                  </a:gsLst>
                  <a:lin ang="16200000" scaled="1"/>
                  <a:tileRect/>
                </a:gradFill>
                <a:effectLst>
                  <a:outerShdw blurRad="101600" dist="38100" dir="5400000" algn="t" rotWithShape="0">
                    <a:prstClr val="black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sz="40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图文数据获取实验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1515745" y="3539490"/>
            <a:ext cx="8890635" cy="0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904994" y="4230741"/>
            <a:ext cx="4417643" cy="401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AI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程序设计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2" y="222267"/>
            <a:ext cx="2333625" cy="7429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040886" y="6184540"/>
            <a:ext cx="214657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202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6.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07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1"/>
          <p:cNvSpPr/>
          <p:nvPr/>
        </p:nvSpPr>
        <p:spPr>
          <a:xfrm>
            <a:off x="1" y="2468894"/>
            <a:ext cx="6777865" cy="3360372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101133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5" name="Group 32" hidden="1"/>
          <p:cNvGrpSpPr/>
          <p:nvPr/>
        </p:nvGrpSpPr>
        <p:grpSpPr>
          <a:xfrm>
            <a:off x="0" y="1943976"/>
            <a:ext cx="10573704" cy="1670827"/>
            <a:chOff x="-41328" y="1943975"/>
            <a:chExt cx="11361717" cy="1670826"/>
          </a:xfrm>
        </p:grpSpPr>
        <p:cxnSp>
          <p:nvCxnSpPr>
            <p:cNvPr id="46" name="Straight Connector 10"/>
            <p:cNvCxnSpPr>
              <a:stCxn id="42" idx="0"/>
            </p:cNvCxnSpPr>
            <p:nvPr/>
          </p:nvCxnSpPr>
          <p:spPr>
            <a:xfrm>
              <a:off x="-41328" y="2468892"/>
              <a:ext cx="2007072" cy="1145909"/>
            </a:xfrm>
            <a:prstGeom prst="line">
              <a:avLst/>
            </a:prstGeom>
            <a:ln w="12700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13"/>
            <p:cNvCxnSpPr/>
            <p:nvPr/>
          </p:nvCxnSpPr>
          <p:spPr>
            <a:xfrm>
              <a:off x="189793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18"/>
            <p:cNvCxnSpPr/>
            <p:nvPr/>
          </p:nvCxnSpPr>
          <p:spPr>
            <a:xfrm flipH="1">
              <a:off x="2940929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23"/>
            <p:cNvCxnSpPr/>
            <p:nvPr/>
          </p:nvCxnSpPr>
          <p:spPr>
            <a:xfrm>
              <a:off x="3992369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24"/>
            <p:cNvCxnSpPr/>
            <p:nvPr/>
          </p:nvCxnSpPr>
          <p:spPr>
            <a:xfrm flipH="1">
              <a:off x="5035364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25"/>
            <p:cNvCxnSpPr/>
            <p:nvPr/>
          </p:nvCxnSpPr>
          <p:spPr>
            <a:xfrm>
              <a:off x="608680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26"/>
            <p:cNvCxnSpPr/>
            <p:nvPr/>
          </p:nvCxnSpPr>
          <p:spPr>
            <a:xfrm flipH="1">
              <a:off x="7129799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4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27"/>
            <p:cNvCxnSpPr/>
            <p:nvPr/>
          </p:nvCxnSpPr>
          <p:spPr>
            <a:xfrm>
              <a:off x="8181239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4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28"/>
            <p:cNvCxnSpPr/>
            <p:nvPr/>
          </p:nvCxnSpPr>
          <p:spPr>
            <a:xfrm flipH="1">
              <a:off x="9224234" y="1943975"/>
              <a:ext cx="1046634" cy="1052977"/>
            </a:xfrm>
            <a:prstGeom prst="line">
              <a:avLst/>
            </a:prstGeom>
            <a:ln w="1270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29"/>
            <p:cNvCxnSpPr/>
            <p:nvPr/>
          </p:nvCxnSpPr>
          <p:spPr>
            <a:xfrm>
              <a:off x="10275674" y="1943975"/>
              <a:ext cx="1044715" cy="1051258"/>
            </a:xfrm>
            <a:prstGeom prst="line">
              <a:avLst/>
            </a:prstGeom>
            <a:ln w="12700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矩形 1"/>
          <p:cNvSpPr/>
          <p:nvPr/>
        </p:nvSpPr>
        <p:spPr>
          <a:xfrm>
            <a:off x="0" y="1892830"/>
            <a:ext cx="561594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101133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57" name="Group 5"/>
          <p:cNvGrpSpPr/>
          <p:nvPr>
            <p:custDataLst>
              <p:tags r:id="rId1"/>
            </p:custDataLst>
          </p:nvPr>
        </p:nvGrpSpPr>
        <p:grpSpPr>
          <a:xfrm>
            <a:off x="7334687" y="1111728"/>
            <a:ext cx="4477601" cy="707887"/>
            <a:chOff x="1598315" y="1418185"/>
            <a:chExt cx="4477601" cy="707886"/>
          </a:xfrm>
        </p:grpSpPr>
        <p:sp>
          <p:nvSpPr>
            <p:cNvPr id="58" name="TextBox 6"/>
            <p:cNvSpPr txBox="1"/>
            <p:nvPr>
              <p:custDataLst>
                <p:tags r:id="rId11"/>
              </p:custDataLst>
            </p:nvPr>
          </p:nvSpPr>
          <p:spPr>
            <a:xfrm>
              <a:off x="1598315" y="1418185"/>
              <a:ext cx="655949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r>
                <a:rPr lang="en-US" altLang="zh-CN" sz="5335" dirty="0">
                  <a:solidFill>
                    <a:srgbClr val="016371"/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01</a:t>
              </a:r>
            </a:p>
          </p:txBody>
        </p:sp>
        <p:sp>
          <p:nvSpPr>
            <p:cNvPr id="60" name="TextBox 8"/>
            <p:cNvSpPr txBox="1"/>
            <p:nvPr>
              <p:custDataLst>
                <p:tags r:id="rId12"/>
              </p:custDataLst>
            </p:nvPr>
          </p:nvSpPr>
          <p:spPr>
            <a:xfrm>
              <a:off x="2113342" y="1509514"/>
              <a:ext cx="3962574" cy="525227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Autofit/>
            </a:bodyPr>
            <a:lstStyle/>
            <a:p>
              <a:r>
                <a:rPr lang="zh-CN" altLang="en-US" sz="2665" dirty="0">
                  <a:solidFill>
                    <a:srgbClr val="01637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学习目标</a:t>
              </a:r>
            </a:p>
          </p:txBody>
        </p:sp>
      </p:grpSp>
      <p:grpSp>
        <p:nvGrpSpPr>
          <p:cNvPr id="64" name="Group 10"/>
          <p:cNvGrpSpPr/>
          <p:nvPr>
            <p:custDataLst>
              <p:tags r:id="rId2"/>
            </p:custDataLst>
          </p:nvPr>
        </p:nvGrpSpPr>
        <p:grpSpPr>
          <a:xfrm>
            <a:off x="7356350" y="2359197"/>
            <a:ext cx="3767777" cy="707889"/>
            <a:chOff x="1573003" y="2960430"/>
            <a:chExt cx="3767778" cy="707887"/>
          </a:xfrm>
        </p:grpSpPr>
        <p:sp>
          <p:nvSpPr>
            <p:cNvPr id="65" name="TextBox 11"/>
            <p:cNvSpPr txBox="1"/>
            <p:nvPr>
              <p:custDataLst>
                <p:tags r:id="rId9"/>
              </p:custDataLst>
            </p:nvPr>
          </p:nvSpPr>
          <p:spPr>
            <a:xfrm>
              <a:off x="1573003" y="2960430"/>
              <a:ext cx="718465" cy="707887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02</a:t>
              </a:r>
            </a:p>
          </p:txBody>
        </p:sp>
        <p:sp>
          <p:nvSpPr>
            <p:cNvPr id="89" name="TextBox 13"/>
            <p:cNvSpPr txBox="1"/>
            <p:nvPr>
              <p:custDataLst>
                <p:tags r:id="rId10"/>
              </p:custDataLst>
            </p:nvPr>
          </p:nvSpPr>
          <p:spPr>
            <a:xfrm>
              <a:off x="2096672" y="3010990"/>
              <a:ext cx="3244109" cy="563232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使用工具</a:t>
              </a:r>
            </a:p>
          </p:txBody>
        </p:sp>
      </p:grpSp>
      <p:grpSp>
        <p:nvGrpSpPr>
          <p:cNvPr id="91" name="Group 15"/>
          <p:cNvGrpSpPr/>
          <p:nvPr>
            <p:custDataLst>
              <p:tags r:id="rId3"/>
            </p:custDataLst>
          </p:nvPr>
        </p:nvGrpSpPr>
        <p:grpSpPr>
          <a:xfrm>
            <a:off x="7381662" y="3480329"/>
            <a:ext cx="4454869" cy="707887"/>
            <a:chOff x="1598315" y="4154489"/>
            <a:chExt cx="4454870" cy="707886"/>
          </a:xfrm>
        </p:grpSpPr>
        <p:sp>
          <p:nvSpPr>
            <p:cNvPr id="92" name="TextBox 16"/>
            <p:cNvSpPr txBox="1"/>
            <p:nvPr>
              <p:custDataLst>
                <p:tags r:id="rId7"/>
              </p:custDataLst>
            </p:nvPr>
          </p:nvSpPr>
          <p:spPr>
            <a:xfrm>
              <a:off x="1598315" y="4154489"/>
              <a:ext cx="732893" cy="707886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rgbClr val="016371"/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03</a:t>
              </a:r>
            </a:p>
          </p:txBody>
        </p:sp>
        <p:sp>
          <p:nvSpPr>
            <p:cNvPr id="94" name="TextBox 18"/>
            <p:cNvSpPr txBox="1"/>
            <p:nvPr>
              <p:custDataLst>
                <p:tags r:id="rId8"/>
              </p:custDataLst>
            </p:nvPr>
          </p:nvSpPr>
          <p:spPr>
            <a:xfrm>
              <a:off x="2090611" y="4271520"/>
              <a:ext cx="3962574" cy="520360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>
                  <a:solidFill>
                    <a:srgbClr val="01637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具体步骤</a:t>
              </a:r>
              <a:endParaRPr lang="en-US" altLang="zh-CN" sz="2665" dirty="0">
                <a:solidFill>
                  <a:srgbClr val="01637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grpSp>
        <p:nvGrpSpPr>
          <p:cNvPr id="96" name="Group 20"/>
          <p:cNvGrpSpPr/>
          <p:nvPr>
            <p:custDataLst>
              <p:tags r:id="rId4"/>
            </p:custDataLst>
          </p:nvPr>
        </p:nvGrpSpPr>
        <p:grpSpPr>
          <a:xfrm>
            <a:off x="7381662" y="4742408"/>
            <a:ext cx="4430625" cy="707888"/>
            <a:chOff x="1598315" y="5522641"/>
            <a:chExt cx="4430626" cy="707886"/>
          </a:xfrm>
        </p:grpSpPr>
        <p:sp>
          <p:nvSpPr>
            <p:cNvPr id="97" name="TextBox 21"/>
            <p:cNvSpPr txBox="1"/>
            <p:nvPr>
              <p:custDataLst>
                <p:tags r:id="rId5"/>
              </p:custDataLst>
            </p:nvPr>
          </p:nvSpPr>
          <p:spPr>
            <a:xfrm>
              <a:off x="1598315" y="5522641"/>
              <a:ext cx="716863" cy="707886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45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tencil Std" panose="04020904080802020404" pitchFamily="82" charset="0"/>
                  <a:ea typeface="方正黑体简体" panose="02010601030101010101" pitchFamily="2" charset="-122"/>
                </a:rPr>
                <a:t>04</a:t>
              </a:r>
            </a:p>
          </p:txBody>
        </p:sp>
        <p:sp>
          <p:nvSpPr>
            <p:cNvPr id="99" name="TextBox 23"/>
            <p:cNvSpPr txBox="1"/>
            <p:nvPr>
              <p:custDataLst>
                <p:tags r:id="rId6"/>
              </p:custDataLst>
            </p:nvPr>
          </p:nvSpPr>
          <p:spPr>
            <a:xfrm>
              <a:off x="2066367" y="5693126"/>
              <a:ext cx="3962574" cy="442856"/>
            </a:xfrm>
            <a:prstGeom prst="rect">
              <a:avLst/>
            </a:prstGeom>
            <a:noFill/>
          </p:spPr>
          <p:txBody>
            <a:bodyPr wrap="none" lIns="480000" tIns="0" rIns="0" bIns="0" anchor="b" anchorCtr="0">
              <a:normAutofit/>
            </a:bodyPr>
            <a:lstStyle/>
            <a:p>
              <a:r>
                <a:rPr lang="zh-CN" altLang="en-US" sz="26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拓展练习</a:t>
              </a:r>
            </a:p>
          </p:txBody>
        </p:sp>
      </p:grpSp>
      <p:grpSp>
        <p:nvGrpSpPr>
          <p:cNvPr id="101" name="Group 9"/>
          <p:cNvGrpSpPr/>
          <p:nvPr/>
        </p:nvGrpSpPr>
        <p:grpSpPr>
          <a:xfrm>
            <a:off x="391262" y="4785017"/>
            <a:ext cx="5190430" cy="1925611"/>
            <a:chOff x="-1478936" y="2498602"/>
            <a:chExt cx="6059079" cy="2247874"/>
          </a:xfrm>
        </p:grpSpPr>
        <p:sp>
          <p:nvSpPr>
            <p:cNvPr id="102" name="TextBox 7"/>
            <p:cNvSpPr txBox="1"/>
            <p:nvPr/>
          </p:nvSpPr>
          <p:spPr>
            <a:xfrm>
              <a:off x="1943568" y="2498602"/>
              <a:ext cx="2636575" cy="2247874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  目   录</a:t>
              </a:r>
            </a:p>
          </p:txBody>
        </p:sp>
        <p:sp>
          <p:nvSpPr>
            <p:cNvPr id="103" name="TextBox 8"/>
            <p:cNvSpPr txBox="1"/>
            <p:nvPr/>
          </p:nvSpPr>
          <p:spPr>
            <a:xfrm>
              <a:off x="-1478936" y="3246091"/>
              <a:ext cx="2217541" cy="568773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en-US" altLang="zh-CN" sz="213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CONTENTS</a:t>
              </a:r>
            </a:p>
          </p:txBody>
        </p:sp>
      </p:grpSp>
      <p:cxnSp>
        <p:nvCxnSpPr>
          <p:cNvPr id="104" name="直接连接符 103"/>
          <p:cNvCxnSpPr/>
          <p:nvPr/>
        </p:nvCxnSpPr>
        <p:spPr>
          <a:xfrm>
            <a:off x="5332811" y="3689648"/>
            <a:ext cx="1728192" cy="3168352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图片 6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4471"/>
            <a:ext cx="5634402" cy="2862324"/>
          </a:xfrm>
          <a:prstGeom prst="rect">
            <a:avLst/>
          </a:prstGeom>
        </p:spPr>
      </p:pic>
      <p:sp>
        <p:nvSpPr>
          <p:cNvPr id="4" name="等腰三角形 3"/>
          <p:cNvSpPr/>
          <p:nvPr/>
        </p:nvSpPr>
        <p:spPr>
          <a:xfrm rot="10800000">
            <a:off x="4051063" y="1826249"/>
            <a:ext cx="1591383" cy="2908243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等腰三角形 67"/>
          <p:cNvSpPr/>
          <p:nvPr/>
        </p:nvSpPr>
        <p:spPr>
          <a:xfrm rot="10800000">
            <a:off x="5070475" y="3696303"/>
            <a:ext cx="573564" cy="1046099"/>
          </a:xfrm>
          <a:prstGeom prst="triangle">
            <a:avLst>
              <a:gd name="adj" fmla="val 0"/>
            </a:avLst>
          </a:pr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连接符 104"/>
          <p:cNvCxnSpPr/>
          <p:nvPr/>
        </p:nvCxnSpPr>
        <p:spPr>
          <a:xfrm>
            <a:off x="2724207" y="0"/>
            <a:ext cx="1728192" cy="3168352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01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课题目标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0500" y="1004570"/>
            <a:ext cx="11642090" cy="39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单机爬虫往往难以应对大规模数据抓取的需求</a:t>
            </a:r>
            <a:r>
              <a:rPr lang="en-US" altLang="zh-CN" b="1" dirty="0"/>
              <a:t> -&gt; </a:t>
            </a:r>
            <a:r>
              <a:rPr lang="zh-CN" altLang="en-US" b="1" dirty="0"/>
              <a:t>分布式爬虫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90500" y="1810385"/>
            <a:ext cx="5080000" cy="16167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/>
              <a:t>课题目标：</a:t>
            </a:r>
          </a:p>
          <a:p>
            <a:endParaRPr lang="zh-CN" altLang="en-US" sz="1600"/>
          </a:p>
          <a:p>
            <a:pPr>
              <a:lnSpc>
                <a:spcPct val="140000"/>
              </a:lnSpc>
              <a:buFont typeface="Arial" panose="020B0604020202020204"/>
              <a:buChar char="•"/>
            </a:pPr>
            <a:r>
              <a:rPr lang="zh-CN" altLang="en-US" sz="1600"/>
              <a:t>掌握 </a:t>
            </a:r>
            <a:r>
              <a:rPr lang="en-US" altLang="zh-CN" sz="1600"/>
              <a:t>Scrapy </a:t>
            </a:r>
            <a:r>
              <a:rPr lang="zh-CN" altLang="en-US" sz="1600"/>
              <a:t>框架的使用</a:t>
            </a:r>
          </a:p>
          <a:p>
            <a:pPr>
              <a:lnSpc>
                <a:spcPct val="140000"/>
              </a:lnSpc>
              <a:buFont typeface="Arial" panose="020B0604020202020204"/>
              <a:buChar char="•"/>
            </a:pPr>
            <a:r>
              <a:rPr lang="zh-CN" altLang="en-US" sz="1600"/>
              <a:t>实现分布式并发爬虫</a:t>
            </a:r>
          </a:p>
          <a:p>
            <a:pPr>
              <a:lnSpc>
                <a:spcPct val="140000"/>
              </a:lnSpc>
              <a:buFont typeface="Arial" panose="020B0604020202020204"/>
              <a:buChar char="•"/>
            </a:pPr>
            <a:r>
              <a:rPr lang="zh-CN" altLang="en-US" sz="1600"/>
              <a:t>熟悉 </a:t>
            </a:r>
            <a:r>
              <a:rPr lang="en-US" altLang="zh-CN" sz="1600"/>
              <a:t>MongoDB </a:t>
            </a:r>
            <a:r>
              <a:rPr lang="zh-CN" altLang="en-US" sz="1600"/>
              <a:t>和 </a:t>
            </a:r>
            <a:r>
              <a:rPr lang="en-US" altLang="zh-CN" sz="1600"/>
              <a:t>Redis </a:t>
            </a:r>
            <a:r>
              <a:rPr lang="zh-CN" altLang="en-US" sz="1600"/>
              <a:t>的基本操作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使用工具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02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使用工具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0970" y="836295"/>
            <a:ext cx="112071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Scrapy</a:t>
            </a:r>
            <a:r>
              <a:rPr lang="zh-CN" altLang="en-US" b="1"/>
              <a:t>：</a:t>
            </a:r>
            <a:endParaRPr lang="en-US" altLang="zh-CN"/>
          </a:p>
          <a:p>
            <a:r>
              <a:rPr lang="en-US" altLang="zh-CN"/>
              <a:t>Scrapy </a:t>
            </a:r>
            <a:r>
              <a:rPr lang="zh-CN" altLang="en-US"/>
              <a:t>是一个强大的</a:t>
            </a:r>
            <a:r>
              <a:rPr lang="en-US" altLang="zh-CN"/>
              <a:t> Python </a:t>
            </a:r>
            <a:r>
              <a:rPr lang="zh-CN" altLang="en-US"/>
              <a:t>爬虫框架，它提供了强大的抓取能力和灵活的数据提取功能。通过</a:t>
            </a:r>
            <a:r>
              <a:rPr lang="en-US" altLang="zh-CN"/>
              <a:t> Scrapy</a:t>
            </a:r>
            <a:r>
              <a:rPr lang="zh-CN" altLang="en-US"/>
              <a:t>能够简洁定义爬虫的流程、规则和数据处理方式，从而快速地构建一个高效的单机爬虫系统。</a:t>
            </a:r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0970" y="1677035"/>
            <a:ext cx="958977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/>
              <a:t>Scrapy</a:t>
            </a:r>
            <a:r>
              <a:rPr lang="zh-CN" altLang="en-US" sz="1600" b="1"/>
              <a:t>的</a:t>
            </a:r>
            <a:r>
              <a:rPr lang="en-US" altLang="zh-CN" sz="1600" b="1"/>
              <a:t>5</a:t>
            </a:r>
            <a:r>
              <a:rPr lang="zh-CN" altLang="en-US" sz="1600" b="1"/>
              <a:t>个主要组件：</a:t>
            </a:r>
            <a:endParaRPr lang="en-US" altLang="zh-CN" sz="16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Engine</a:t>
            </a:r>
            <a:r>
              <a:rPr lang="zh-CN" altLang="en-US" sz="1600"/>
              <a:t>：</a:t>
            </a:r>
            <a:r>
              <a:rPr lang="en-US" altLang="zh-CN" sz="1600"/>
              <a:t> </a:t>
            </a:r>
            <a:r>
              <a:rPr lang="zh-CN" altLang="en-US" sz="1600"/>
              <a:t>负责各个组件之间的通讯，信号、数据传递等。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Scheduler</a:t>
            </a:r>
            <a:r>
              <a:rPr lang="zh-CN" altLang="en-US" sz="1600"/>
              <a:t>：</a:t>
            </a:r>
            <a:r>
              <a:rPr lang="en-US" altLang="zh-CN" sz="1600"/>
              <a:t> </a:t>
            </a:r>
            <a:r>
              <a:rPr lang="zh-CN" altLang="en-US" sz="1600"/>
              <a:t>接收从引擎发送过来的</a:t>
            </a:r>
            <a:r>
              <a:rPr lang="en-US" altLang="zh-CN" sz="1600"/>
              <a:t>Requests</a:t>
            </a:r>
            <a:r>
              <a:rPr lang="zh-CN" altLang="en-US" sz="1600"/>
              <a:t>请求并整理暂存请求，当引擎需要时交还给引擎。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Downloader</a:t>
            </a:r>
            <a:r>
              <a:rPr lang="zh-CN" altLang="en-US" sz="1600"/>
              <a:t>：</a:t>
            </a:r>
            <a:r>
              <a:rPr lang="en-US" altLang="zh-CN" sz="1600"/>
              <a:t> </a:t>
            </a:r>
            <a:r>
              <a:rPr lang="zh-CN" altLang="en-US" sz="1600"/>
              <a:t>负责下载</a:t>
            </a:r>
            <a:r>
              <a:rPr lang="en-US" altLang="zh-CN" sz="1600"/>
              <a:t>Scrapy </a:t>
            </a:r>
            <a:r>
              <a:rPr lang="zh-CN" altLang="en-US" sz="1600"/>
              <a:t>引擎发送的所有</a:t>
            </a:r>
            <a:r>
              <a:rPr lang="en-US" altLang="zh-CN" sz="1600"/>
              <a:t>Requests</a:t>
            </a:r>
            <a:r>
              <a:rPr lang="zh-CN" altLang="en-US" sz="1600"/>
              <a:t>请求，并将其获取到的</a:t>
            </a:r>
            <a:r>
              <a:rPr lang="en-US" altLang="zh-CN" sz="1600"/>
              <a:t>Responses</a:t>
            </a:r>
            <a:r>
              <a:rPr lang="zh-CN" altLang="en-US" sz="1600"/>
              <a:t>交还给</a:t>
            </a:r>
            <a:r>
              <a:rPr lang="en-US" altLang="zh-CN" sz="1600"/>
              <a:t>Engine</a:t>
            </a:r>
            <a:r>
              <a:rPr lang="zh-CN" altLang="en-US" sz="1600"/>
              <a:t>，由引擎交给</a:t>
            </a:r>
            <a:r>
              <a:rPr lang="en-US" altLang="zh-CN" sz="1600"/>
              <a:t>Spider</a:t>
            </a:r>
            <a:r>
              <a:rPr lang="zh-CN" altLang="en-US" sz="1600"/>
              <a:t>来处理。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Spider: </a:t>
            </a:r>
            <a:r>
              <a:rPr lang="zh-CN" altLang="en-US" sz="1600"/>
              <a:t>负责处理所有</a:t>
            </a:r>
            <a:r>
              <a:rPr lang="en-US" altLang="zh-CN" sz="1600"/>
              <a:t>Responses,</a:t>
            </a:r>
            <a:r>
              <a:rPr lang="zh-CN" altLang="en-US" sz="1600"/>
              <a:t>从中分析提取数据，获取</a:t>
            </a:r>
            <a:r>
              <a:rPr lang="en-US" altLang="zh-CN" sz="1600"/>
              <a:t>Item</a:t>
            </a:r>
            <a:r>
              <a:rPr lang="zh-CN" altLang="en-US" sz="1600"/>
              <a:t>字段需要的数据，并提交</a:t>
            </a:r>
            <a:r>
              <a:rPr lang="en-US" altLang="zh-CN" sz="1600"/>
              <a:t>Requests</a:t>
            </a:r>
            <a:r>
              <a:rPr lang="zh-CN" altLang="en-US" sz="1600"/>
              <a:t>给引擎。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Item Pipeline</a:t>
            </a:r>
            <a:r>
              <a:rPr lang="zh-CN" altLang="en-US" sz="1600"/>
              <a:t>：</a:t>
            </a:r>
            <a:r>
              <a:rPr lang="en-US" altLang="zh-CN" sz="1600"/>
              <a:t> </a:t>
            </a:r>
            <a:r>
              <a:rPr lang="zh-CN" altLang="en-US" sz="1600"/>
              <a:t>负责处理</a:t>
            </a:r>
            <a:r>
              <a:rPr lang="en-US" altLang="zh-CN" sz="1600"/>
              <a:t>Spider</a:t>
            </a:r>
            <a:r>
              <a:rPr lang="zh-CN" altLang="en-US" sz="1600"/>
              <a:t>中获取到的</a:t>
            </a:r>
            <a:r>
              <a:rPr lang="en-US" altLang="zh-CN" sz="1600"/>
              <a:t>Item</a:t>
            </a:r>
            <a:r>
              <a:rPr lang="zh-CN" altLang="en-US" sz="1600"/>
              <a:t>，并进行进行后期处理（详细分析、过滤、存储等）的地方。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15900" y="4837430"/>
            <a:ext cx="11006455" cy="1297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1600" b="1">
                <a:sym typeface="+mn-ea"/>
              </a:rPr>
              <a:t>Scrapy</a:t>
            </a:r>
            <a:r>
              <a:rPr lang="zh-CN" altLang="en-US" sz="1600" b="1">
                <a:sym typeface="+mn-ea"/>
              </a:rPr>
              <a:t>的</a:t>
            </a:r>
            <a:r>
              <a:rPr lang="en-US" altLang="zh-CN" sz="1600" b="1">
                <a:sym typeface="+mn-ea"/>
              </a:rPr>
              <a:t>2</a:t>
            </a:r>
            <a:r>
              <a:rPr lang="zh-CN" altLang="en-US" sz="1600" b="1">
                <a:sym typeface="+mn-ea"/>
              </a:rPr>
              <a:t>个中间组件：</a:t>
            </a:r>
            <a:endParaRPr lang="en-US" altLang="zh-CN" sz="1600" b="1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Downloader Middlewares</a:t>
            </a:r>
            <a:r>
              <a:rPr lang="zh-CN" altLang="en-US" sz="1600"/>
              <a:t>：</a:t>
            </a:r>
            <a:r>
              <a:rPr lang="en-US" altLang="zh-CN" sz="1600"/>
              <a:t> </a:t>
            </a:r>
            <a:r>
              <a:rPr lang="zh-CN" altLang="en-US" sz="1600"/>
              <a:t>自定义扩展下载功能的组件。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Spider Middlewares</a:t>
            </a:r>
            <a:r>
              <a:rPr lang="zh-CN" altLang="en-US" sz="1600"/>
              <a:t>：</a:t>
            </a:r>
            <a:r>
              <a:rPr lang="en-US" altLang="zh-CN" sz="1600"/>
              <a:t> </a:t>
            </a:r>
            <a:r>
              <a:rPr lang="zh-CN" altLang="en-US" sz="1600"/>
              <a:t>自定扩展和操作引擎和</a:t>
            </a:r>
            <a:r>
              <a:rPr lang="en-US" altLang="zh-CN" sz="1600"/>
              <a:t>Spider</a:t>
            </a:r>
            <a:r>
              <a:rPr lang="zh-CN" altLang="en-US" sz="1600"/>
              <a:t>中间通信的功能组件（比如进入</a:t>
            </a:r>
            <a:r>
              <a:rPr lang="en-US" altLang="zh-CN" sz="1600"/>
              <a:t>Spider</a:t>
            </a:r>
            <a:r>
              <a:rPr lang="zh-CN" altLang="en-US" sz="1600"/>
              <a:t>的</a:t>
            </a:r>
            <a:r>
              <a:rPr lang="en-US" altLang="zh-CN" sz="1600"/>
              <a:t>Responses;</a:t>
            </a:r>
            <a:r>
              <a:rPr lang="zh-CN" altLang="en-US" sz="1600"/>
              <a:t>和从</a:t>
            </a:r>
            <a:r>
              <a:rPr lang="en-US" altLang="zh-CN" sz="1600"/>
              <a:t>Spider</a:t>
            </a:r>
            <a:r>
              <a:rPr lang="zh-CN" altLang="en-US" sz="1600"/>
              <a:t>出去的</a:t>
            </a:r>
            <a:r>
              <a:rPr lang="en-US" altLang="zh-CN" sz="1600"/>
              <a:t>Requests</a:t>
            </a:r>
            <a:r>
              <a:rPr lang="zh-CN" altLang="en-US" sz="1600"/>
              <a:t>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Scrapy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运行流程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700" y="215900"/>
            <a:ext cx="5985510" cy="36080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9860" y="4351020"/>
            <a:ext cx="11795760" cy="1937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zh-CN" sz="1600"/>
              <a:t>Spider </a:t>
            </a:r>
            <a:r>
              <a:rPr lang="zh-CN" altLang="en-US" sz="1600"/>
              <a:t>生成</a:t>
            </a:r>
            <a:r>
              <a:rPr lang="en-US" altLang="zh-CN" sz="1600"/>
              <a:t> Requests </a:t>
            </a:r>
            <a:r>
              <a:rPr lang="zh-CN" altLang="en-US" sz="1600"/>
              <a:t>发送到</a:t>
            </a:r>
            <a:r>
              <a:rPr lang="en-US" altLang="zh-CN" sz="1600"/>
              <a:t> Engine, </a:t>
            </a:r>
            <a:r>
              <a:rPr lang="zh-CN" altLang="en-US" sz="1600"/>
              <a:t>中间经过</a:t>
            </a:r>
            <a:r>
              <a:rPr lang="en-US" altLang="zh-CN" sz="1600"/>
              <a:t> SpiderMiddleware</a:t>
            </a:r>
            <a:r>
              <a:rPr lang="zh-CN" altLang="en-US" sz="1600"/>
              <a:t>处理。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zh-CN" sz="1600"/>
              <a:t>Engine </a:t>
            </a:r>
            <a:r>
              <a:rPr lang="zh-CN" altLang="en-US" sz="1600"/>
              <a:t>将从</a:t>
            </a:r>
            <a:r>
              <a:rPr lang="en-US" altLang="zh-CN" sz="1600"/>
              <a:t> Spider </a:t>
            </a:r>
            <a:r>
              <a:rPr lang="zh-CN" altLang="en-US" sz="1600"/>
              <a:t>处获得的</a:t>
            </a:r>
            <a:r>
              <a:rPr lang="en-US" altLang="zh-CN" sz="1600"/>
              <a:t> Requests </a:t>
            </a:r>
            <a:r>
              <a:rPr lang="zh-CN" altLang="en-US" sz="1600"/>
              <a:t>发送给</a:t>
            </a:r>
            <a:r>
              <a:rPr lang="en-US" altLang="zh-CN" sz="1600"/>
              <a:t> Schedule, </a:t>
            </a:r>
            <a:r>
              <a:rPr lang="zh-CN" altLang="en-US" sz="1600"/>
              <a:t>并向其获取待下载请求（异步）。</a:t>
            </a:r>
            <a:r>
              <a:rPr lang="en-US" altLang="zh-CN" sz="1600"/>
              <a:t>Schedule </a:t>
            </a:r>
            <a:r>
              <a:rPr lang="zh-CN" altLang="en-US" sz="1600"/>
              <a:t>将</a:t>
            </a:r>
            <a:r>
              <a:rPr lang="en-US" altLang="zh-CN" sz="1600"/>
              <a:t>Requests </a:t>
            </a:r>
            <a:r>
              <a:rPr lang="zh-CN" altLang="en-US" sz="1600"/>
              <a:t>整理，按一定顺序入队。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zh-CN" sz="1600"/>
              <a:t>Schedule </a:t>
            </a:r>
            <a:r>
              <a:rPr lang="zh-CN" altLang="en-US" sz="1600"/>
              <a:t>将处理好的需要下载的请求发送给</a:t>
            </a:r>
            <a:r>
              <a:rPr lang="en-US" altLang="zh-CN" sz="1600"/>
              <a:t>Engine</a:t>
            </a:r>
            <a:r>
              <a:rPr lang="zh-CN" altLang="en-US" sz="1600"/>
              <a:t>。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zh-CN" sz="1600"/>
              <a:t>Engine </a:t>
            </a:r>
            <a:r>
              <a:rPr lang="zh-CN" altLang="en-US" sz="1600"/>
              <a:t>得到需下载的请求后，将其发送到</a:t>
            </a:r>
            <a:r>
              <a:rPr lang="en-US" altLang="zh-CN" sz="1600"/>
              <a:t>Downloader</a:t>
            </a:r>
            <a:r>
              <a:rPr lang="zh-CN" altLang="en-US" sz="1600"/>
              <a:t>，中间经过</a:t>
            </a:r>
            <a:r>
              <a:rPr lang="en-US" altLang="zh-CN" sz="1600"/>
              <a:t>DownloadMiddleware, </a:t>
            </a:r>
            <a:r>
              <a:rPr lang="zh-CN" altLang="en-US" sz="1600"/>
              <a:t>例如代理中间件，</a:t>
            </a:r>
            <a:r>
              <a:rPr lang="en-US" altLang="zh-CN" sz="1600"/>
              <a:t>UA</a:t>
            </a:r>
            <a:r>
              <a:rPr lang="zh-CN" altLang="en-US" sz="1600"/>
              <a:t>中间件等。</a:t>
            </a:r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Scrapy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运行流程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015" y="309245"/>
            <a:ext cx="5985510" cy="36080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5935" y="4351020"/>
            <a:ext cx="10844530" cy="16910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>
                <a:sym typeface="+mn-ea"/>
              </a:rPr>
              <a:t>5.  Downloader </a:t>
            </a:r>
            <a:r>
              <a:rPr lang="zh-CN" altLang="en-US" sz="1600">
                <a:sym typeface="+mn-ea"/>
              </a:rPr>
              <a:t>将请求下载后，生成响应</a:t>
            </a:r>
            <a:r>
              <a:rPr lang="en-US" altLang="zh-CN" sz="1600">
                <a:sym typeface="+mn-ea"/>
              </a:rPr>
              <a:t>Responses, </a:t>
            </a:r>
            <a:r>
              <a:rPr lang="zh-CN" altLang="en-US" sz="1600">
                <a:sym typeface="+mn-ea"/>
              </a:rPr>
              <a:t>送到</a:t>
            </a:r>
            <a:r>
              <a:rPr lang="en-US" altLang="zh-CN" sz="1600">
                <a:sym typeface="+mn-ea"/>
              </a:rPr>
              <a:t>Engine, </a:t>
            </a:r>
            <a:r>
              <a:rPr lang="zh-CN" altLang="en-US" sz="1600">
                <a:sym typeface="+mn-ea"/>
              </a:rPr>
              <a:t>中间经过</a:t>
            </a:r>
            <a:r>
              <a:rPr lang="en-US" altLang="zh-CN" sz="1600">
                <a:sym typeface="+mn-ea"/>
              </a:rPr>
              <a:t>DownloadMiddleware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/>
          </a:p>
          <a:p>
            <a:pPr>
              <a:lnSpc>
                <a:spcPct val="130000"/>
              </a:lnSpc>
            </a:pPr>
            <a:r>
              <a:rPr lang="en-US" altLang="zh-CN" sz="1600">
                <a:sym typeface="+mn-ea"/>
              </a:rPr>
              <a:t>6.  Engine </a:t>
            </a:r>
            <a:r>
              <a:rPr lang="zh-CN" altLang="en-US" sz="1600">
                <a:sym typeface="+mn-ea"/>
              </a:rPr>
              <a:t>将</a:t>
            </a:r>
            <a:r>
              <a:rPr lang="en-US" altLang="zh-CN" sz="1600">
                <a:sym typeface="+mn-ea"/>
              </a:rPr>
              <a:t>Responses </a:t>
            </a:r>
            <a:r>
              <a:rPr lang="zh-CN" altLang="en-US" sz="1600">
                <a:sym typeface="+mn-ea"/>
              </a:rPr>
              <a:t>返回到</a:t>
            </a:r>
            <a:r>
              <a:rPr lang="en-US" altLang="zh-CN" sz="1600">
                <a:sym typeface="+mn-ea"/>
              </a:rPr>
              <a:t>Spider</a:t>
            </a:r>
            <a:r>
              <a:rPr lang="zh-CN" altLang="en-US" sz="1600">
                <a:sym typeface="+mn-ea"/>
              </a:rPr>
              <a:t>进行处理。中间经过一系列</a:t>
            </a:r>
            <a:r>
              <a:rPr lang="en-US" altLang="zh-CN" sz="1600">
                <a:sym typeface="+mn-ea"/>
              </a:rPr>
              <a:t>SpiderMiddleware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/>
          </a:p>
          <a:p>
            <a:pPr>
              <a:lnSpc>
                <a:spcPct val="130000"/>
              </a:lnSpc>
            </a:pPr>
            <a:r>
              <a:rPr lang="en-US" altLang="zh-CN" sz="1600">
                <a:sym typeface="+mn-ea"/>
              </a:rPr>
              <a:t>7.  Spider </a:t>
            </a:r>
            <a:r>
              <a:rPr lang="zh-CN" altLang="en-US" sz="1600">
                <a:sym typeface="+mn-ea"/>
              </a:rPr>
              <a:t>提取</a:t>
            </a:r>
            <a:r>
              <a:rPr lang="en-US" altLang="zh-CN" sz="1600">
                <a:sym typeface="+mn-ea"/>
              </a:rPr>
              <a:t>Responses </a:t>
            </a:r>
            <a:r>
              <a:rPr lang="zh-CN" altLang="en-US" sz="1600">
                <a:sym typeface="+mn-ea"/>
              </a:rPr>
              <a:t>中信息构造</a:t>
            </a:r>
            <a:r>
              <a:rPr lang="en-US" altLang="zh-CN" sz="1600">
                <a:sym typeface="+mn-ea"/>
              </a:rPr>
              <a:t>Item </a:t>
            </a:r>
            <a:r>
              <a:rPr lang="zh-CN" altLang="en-US" sz="1600">
                <a:sym typeface="+mn-ea"/>
              </a:rPr>
              <a:t>和生成新的</a:t>
            </a:r>
            <a:r>
              <a:rPr lang="en-US" altLang="zh-CN" sz="1600">
                <a:sym typeface="+mn-ea"/>
              </a:rPr>
              <a:t>Requests, </a:t>
            </a:r>
            <a:r>
              <a:rPr lang="zh-CN" altLang="en-US" sz="1600">
                <a:sym typeface="+mn-ea"/>
              </a:rPr>
              <a:t>送到</a:t>
            </a:r>
            <a:r>
              <a:rPr lang="en-US" altLang="zh-CN" sz="1600">
                <a:sym typeface="+mn-ea"/>
              </a:rPr>
              <a:t>Engine</a:t>
            </a:r>
            <a:r>
              <a:rPr lang="zh-CN" altLang="en-US" sz="1600">
                <a:sym typeface="+mn-ea"/>
              </a:rPr>
              <a:t>，中间经过一系列</a:t>
            </a:r>
            <a:r>
              <a:rPr lang="en-US" altLang="zh-CN" sz="1600">
                <a:sym typeface="+mn-ea"/>
              </a:rPr>
              <a:t>SpiderMiddleware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/>
          </a:p>
          <a:p>
            <a:pPr>
              <a:lnSpc>
                <a:spcPct val="130000"/>
              </a:lnSpc>
            </a:pPr>
            <a:r>
              <a:rPr lang="en-US" altLang="zh-CN" sz="1600">
                <a:sym typeface="+mn-ea"/>
              </a:rPr>
              <a:t>8.  Engine </a:t>
            </a:r>
            <a:r>
              <a:rPr lang="zh-CN" altLang="en-US" sz="1600">
                <a:sym typeface="+mn-ea"/>
              </a:rPr>
              <a:t>将</a:t>
            </a:r>
            <a:r>
              <a:rPr lang="en-US" altLang="zh-CN" sz="1600">
                <a:sym typeface="+mn-ea"/>
              </a:rPr>
              <a:t>Item </a:t>
            </a:r>
            <a:r>
              <a:rPr lang="zh-CN" altLang="en-US" sz="1600">
                <a:sym typeface="+mn-ea"/>
              </a:rPr>
              <a:t>送到</a:t>
            </a:r>
            <a:r>
              <a:rPr lang="en-US" altLang="zh-CN" sz="1600">
                <a:sym typeface="+mn-ea"/>
              </a:rPr>
              <a:t>Item Pipelines</a:t>
            </a:r>
            <a:r>
              <a:rPr lang="zh-CN" altLang="en-US" sz="1600">
                <a:sym typeface="+mn-ea"/>
              </a:rPr>
              <a:t>进行处理，将</a:t>
            </a:r>
            <a:r>
              <a:rPr lang="en-US" altLang="zh-CN" sz="1600">
                <a:sym typeface="+mn-ea"/>
              </a:rPr>
              <a:t>Requests </a:t>
            </a:r>
            <a:r>
              <a:rPr lang="zh-CN" altLang="en-US" sz="1600">
                <a:sym typeface="+mn-ea"/>
              </a:rPr>
              <a:t>送到</a:t>
            </a:r>
            <a:r>
              <a:rPr lang="en-US" altLang="zh-CN" sz="1600">
                <a:sym typeface="+mn-ea"/>
              </a:rPr>
              <a:t>Schedule</a:t>
            </a:r>
            <a:r>
              <a:rPr lang="zh-CN" altLang="en-US" sz="1600">
                <a:sym typeface="+mn-ea"/>
              </a:rPr>
              <a:t>进行处理。</a:t>
            </a:r>
            <a:endParaRPr lang="zh-CN" altLang="en-US" sz="1600"/>
          </a:p>
          <a:p>
            <a:pPr>
              <a:lnSpc>
                <a:spcPct val="130000"/>
              </a:lnSpc>
            </a:pPr>
            <a:r>
              <a:rPr lang="en-US" altLang="zh-CN" sz="1600">
                <a:sym typeface="+mn-ea"/>
              </a:rPr>
              <a:t>9.  </a:t>
            </a:r>
            <a:r>
              <a:rPr lang="zh-CN" altLang="en-US" sz="1600">
                <a:sym typeface="+mn-ea"/>
              </a:rPr>
              <a:t>循环往复，直至结束。</a:t>
            </a:r>
            <a:endParaRPr lang="zh-CN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分布式爬虫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2720" y="1124585"/>
            <a:ext cx="10858500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Celery: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en-US" altLang="zh-CN"/>
              <a:t>Celery </a:t>
            </a:r>
            <a:r>
              <a:rPr lang="zh-CN" altLang="en-US"/>
              <a:t>是一个</a:t>
            </a:r>
            <a:r>
              <a:rPr lang="zh-CN" altLang="en-US">
                <a:sym typeface="+mn-ea"/>
              </a:rPr>
              <a:t>分布式任务执行框架，可以支持大量任务的并发执行</a:t>
            </a:r>
            <a:r>
              <a:rPr lang="zh-CN" altLang="en-US"/>
              <a:t>。它允许多个工作节点（</a:t>
            </a:r>
            <a:r>
              <a:rPr lang="en-US" altLang="zh-CN"/>
              <a:t>Worker</a:t>
            </a:r>
            <a:r>
              <a:rPr lang="zh-CN" altLang="en-US"/>
              <a:t>）并发地执行任务（</a:t>
            </a:r>
            <a:r>
              <a:rPr lang="en-US" altLang="zh-CN"/>
              <a:t>Task</a:t>
            </a:r>
            <a:r>
              <a:rPr lang="zh-CN" altLang="en-US"/>
              <a:t>）。在分布式架构下，</a:t>
            </a:r>
            <a:r>
              <a:rPr lang="en-US" altLang="zh-CN"/>
              <a:t>Celery</a:t>
            </a:r>
            <a:r>
              <a:rPr lang="zh-CN" altLang="en-US"/>
              <a:t>可以让多台机器同时执行任务，大大提高处理效率。</a:t>
            </a:r>
          </a:p>
          <a:p>
            <a:pPr>
              <a:lnSpc>
                <a:spcPct val="150000"/>
              </a:lnSpc>
            </a:pPr>
            <a:endParaRPr lang="en-US" altLang="zh-CN"/>
          </a:p>
          <a:p>
            <a:pPr>
              <a:lnSpc>
                <a:spcPct val="150000"/>
              </a:lnSpc>
            </a:pPr>
            <a:r>
              <a:rPr lang="en-US" b="1"/>
              <a:t>Redis:</a:t>
            </a:r>
            <a:endParaRPr lang="en-US" altLang="zh-CN" b="1"/>
          </a:p>
          <a:p>
            <a:pPr>
              <a:lnSpc>
                <a:spcPct val="150000"/>
              </a:lnSpc>
            </a:pPr>
            <a:r>
              <a:rPr lang="en-US" altLang="zh-CN"/>
              <a:t>Redis </a:t>
            </a:r>
            <a:r>
              <a:rPr lang="zh-CN" altLang="en-US"/>
              <a:t>是一个高性能的键值对数据库，支持多种数据结构，常用于缓存、消息队列等。在</a:t>
            </a:r>
            <a:r>
              <a:rPr lang="en-US" altLang="zh-CN"/>
              <a:t>Celery</a:t>
            </a:r>
            <a:r>
              <a:rPr lang="zh-CN" altLang="en-US"/>
              <a:t>中，</a:t>
            </a:r>
            <a:r>
              <a:rPr lang="en-US" altLang="zh-CN"/>
              <a:t>Redis </a:t>
            </a:r>
            <a:r>
              <a:rPr lang="zh-CN" altLang="en-US"/>
              <a:t>扮演的是消息中间件的角色，负责存放任务信息。</a:t>
            </a:r>
            <a:r>
              <a:rPr lang="en-US" altLang="zh-CN"/>
              <a:t>Celery</a:t>
            </a:r>
            <a:r>
              <a:rPr lang="zh-CN" altLang="en-US"/>
              <a:t>通过</a:t>
            </a:r>
            <a:r>
              <a:rPr lang="en-US" altLang="zh-CN"/>
              <a:t>Redis</a:t>
            </a:r>
            <a:r>
              <a:rPr lang="zh-CN" altLang="en-US"/>
              <a:t>来分发任务并协调多个工作节点的处理。</a:t>
            </a:r>
          </a:p>
          <a:p>
            <a:pPr>
              <a:lnSpc>
                <a:spcPct val="150000"/>
              </a:lnSpc>
            </a:pP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 b="1"/>
              <a:t>MongDB:</a:t>
            </a:r>
          </a:p>
          <a:p>
            <a:pPr>
              <a:lnSpc>
                <a:spcPct val="150000"/>
              </a:lnSpc>
            </a:pPr>
            <a:r>
              <a:rPr lang="en-US" altLang="zh-CN"/>
              <a:t>MongoDB</a:t>
            </a:r>
            <a:r>
              <a:rPr lang="zh-CN" altLang="en-US"/>
              <a:t>是一个流行的开源文档型数据库，它使用类似</a:t>
            </a:r>
            <a:r>
              <a:rPr lang="en-US" altLang="zh-CN"/>
              <a:t> JSON </a:t>
            </a:r>
            <a:r>
              <a:rPr lang="zh-CN" altLang="en-US"/>
              <a:t>的文档模型存储数据，这使得数据存储变得非常灵活。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5321935" cy="545465"/>
            <a:chOff x="-36512" y="123478"/>
            <a:chExt cx="3991451" cy="409098"/>
          </a:xfrm>
        </p:grpSpPr>
        <p:sp>
          <p:nvSpPr>
            <p:cNvPr id="60" name="矩形 1"/>
            <p:cNvSpPr/>
            <p:nvPr/>
          </p:nvSpPr>
          <p:spPr>
            <a:xfrm>
              <a:off x="159" y="123478"/>
              <a:ext cx="3295650" cy="409098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2054"/>
              <a:ext cx="3991451" cy="283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Scrapy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分布式架构设计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9870" y="2218690"/>
            <a:ext cx="1085850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/>
              <a:t>流程思路：</a:t>
            </a:r>
          </a:p>
          <a:p>
            <a:pPr>
              <a:lnSpc>
                <a:spcPct val="150000"/>
              </a:lnSpc>
            </a:pPr>
            <a:r>
              <a:rPr lang="en-US" altLang="zh-CN"/>
              <a:t>1. </a:t>
            </a:r>
            <a:r>
              <a:rPr lang="zh-CN" altLang="en-US"/>
              <a:t>用户触发爬取任务</a:t>
            </a:r>
          </a:p>
          <a:p>
            <a:pPr>
              <a:lnSpc>
                <a:spcPct val="150000"/>
              </a:lnSpc>
            </a:pPr>
            <a:r>
              <a:rPr lang="en-US" altLang="zh-CN"/>
              <a:t>2. Celery</a:t>
            </a:r>
            <a:r>
              <a:rPr lang="zh-CN" altLang="en-US"/>
              <a:t>将任务推入</a:t>
            </a:r>
            <a:r>
              <a:rPr lang="en-US" altLang="zh-CN"/>
              <a:t>Redis</a:t>
            </a:r>
            <a:r>
              <a:rPr lang="zh-CN" altLang="en-US"/>
              <a:t>队列</a:t>
            </a:r>
          </a:p>
          <a:p>
            <a:pPr>
              <a:lnSpc>
                <a:spcPct val="150000"/>
              </a:lnSpc>
            </a:pPr>
            <a:r>
              <a:rPr lang="en-US" altLang="zh-CN"/>
              <a:t>3. Scrapy</a:t>
            </a:r>
            <a:r>
              <a:rPr lang="zh-CN" altLang="en-US"/>
              <a:t>爬虫节点从</a:t>
            </a:r>
            <a:r>
              <a:rPr lang="en-US" altLang="zh-CN"/>
              <a:t>Redis</a:t>
            </a:r>
            <a:r>
              <a:rPr lang="zh-CN" altLang="en-US"/>
              <a:t>队列中获取任务</a:t>
            </a:r>
          </a:p>
          <a:p>
            <a:pPr>
              <a:lnSpc>
                <a:spcPct val="150000"/>
              </a:lnSpc>
            </a:pPr>
            <a:r>
              <a:rPr lang="en-US" altLang="zh-CN"/>
              <a:t>4. </a:t>
            </a:r>
            <a:r>
              <a:rPr lang="zh-CN" altLang="en-US"/>
              <a:t>爬取数据后存储到</a:t>
            </a:r>
            <a:r>
              <a:rPr lang="en-US" altLang="zh-CN"/>
              <a:t>MongoDB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2720" y="1022985"/>
            <a:ext cx="86201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在构建分布式爬虫系统时，任务去重是一个重要的问题。由于多个爬虫节点可能同时抓取同一个</a:t>
            </a:r>
            <a:r>
              <a:rPr lang="en-US" altLang="zh-CN"/>
              <a:t> URL</a:t>
            </a:r>
            <a:r>
              <a:rPr lang="zh-CN" altLang="en-US"/>
              <a:t>，如果不进行任务去重，就会导致重复抓取和浪费资源。为了解决这个问题，我们可以利用分布式任务队列的特性来实现任务去重。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具体步骤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03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定义与配置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80" y="164591"/>
            <a:ext cx="1028733" cy="102873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2915" y="11099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pip install scrapy celery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2915" y="7385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ym typeface="+mn-ea"/>
              </a:rPr>
              <a:t>1. </a:t>
            </a:r>
            <a:r>
              <a:rPr lang="zh-CN" altLang="en-US" b="1">
                <a:sym typeface="+mn-ea"/>
              </a:rPr>
              <a:t>安装依赖：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400685" y="1613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ym typeface="+mn-ea"/>
              </a:rPr>
              <a:t>2. </a:t>
            </a:r>
            <a:r>
              <a:rPr lang="zh-CN" altLang="en-US" b="1">
                <a:sym typeface="+mn-ea"/>
              </a:rPr>
              <a:t>定义</a:t>
            </a:r>
            <a:r>
              <a:rPr lang="en-US" altLang="zh-CN" b="1">
                <a:sym typeface="+mn-ea"/>
              </a:rPr>
              <a:t>scrapy</a:t>
            </a:r>
            <a:r>
              <a:rPr lang="zh-CN" altLang="en-US" b="1">
                <a:sym typeface="+mn-ea"/>
              </a:rPr>
              <a:t>爬虫：</a:t>
            </a:r>
            <a:endParaRPr lang="zh-CN" altLang="en-US" b="1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95" y="2172335"/>
            <a:ext cx="3175000" cy="23558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900420" y="709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ym typeface="+mn-ea"/>
              </a:rPr>
              <a:t>3. </a:t>
            </a:r>
            <a:r>
              <a:rPr lang="zh-CN" b="1">
                <a:sym typeface="+mn-ea"/>
              </a:rPr>
              <a:t>配置</a:t>
            </a:r>
            <a:r>
              <a:rPr lang="en-US" altLang="zh-CN" b="1">
                <a:sym typeface="+mn-ea"/>
              </a:rPr>
              <a:t>celery</a:t>
            </a:r>
            <a:endParaRPr lang="zh-CN" altLang="en-US" b="1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218565"/>
            <a:ext cx="3886200" cy="7683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989320" y="2738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ym typeface="+mn-ea"/>
              </a:rPr>
              <a:t>4. </a:t>
            </a:r>
            <a:r>
              <a:rPr lang="zh-CN" altLang="en-US" b="1"/>
              <a:t>启动</a:t>
            </a:r>
            <a:r>
              <a:rPr lang="en-US" altLang="zh-CN" b="1"/>
              <a:t> Celery Worker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40120" y="34715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celery -A tasks worker --loglevel=info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爬虫实现与数据存储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80" y="16459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3050" y="896303"/>
            <a:ext cx="5080000" cy="1311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900" b="1"/>
              <a:t>1.  Scrapy </a:t>
            </a:r>
            <a:r>
              <a:rPr lang="zh-CN" altLang="en-US" sz="1900" b="1"/>
              <a:t>爬虫实现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爬取目标网站的页面数据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解析页面内容并提取有效信息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处理分页逻辑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2674620"/>
            <a:ext cx="5162550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爬虫实现与数据存储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80" y="16459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3050" y="896303"/>
            <a:ext cx="5080000" cy="10648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900" b="1"/>
              <a:t>2.  MongoDB</a:t>
            </a:r>
            <a:r>
              <a:rPr lang="zh-CN" altLang="en-US" sz="1900" b="1"/>
              <a:t>数据存储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1600"/>
              <a:t>使用</a:t>
            </a:r>
            <a:r>
              <a:rPr lang="en-US" altLang="zh-CN" sz="1600"/>
              <a:t> pymongo</a:t>
            </a:r>
            <a:r>
              <a:rPr lang="zh-CN" altLang="en-US" sz="1600"/>
              <a:t>创建</a:t>
            </a:r>
            <a:r>
              <a:rPr lang="en-US" altLang="zh-CN" sz="1600"/>
              <a:t> MongoDB </a:t>
            </a:r>
            <a:r>
              <a:rPr lang="zh-CN" altLang="en-US" sz="1600"/>
              <a:t>数据库连接</a:t>
            </a:r>
          </a:p>
          <a:p>
            <a:pPr indent="0">
              <a:buFont typeface="Arial" panose="020B0604020202020204" pitchFamily="34" charset="0"/>
              <a:buNone/>
            </a:pP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80" y="2066925"/>
            <a:ext cx="4679950" cy="1289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爬虫实现与数据存储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80" y="16459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3050" y="896620"/>
            <a:ext cx="6427470" cy="81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1900" b="1"/>
              <a:t>3.  Scrapy Pipeline </a:t>
            </a:r>
            <a:r>
              <a:rPr lang="zh-CN" altLang="en-US" sz="1900" b="1"/>
              <a:t>处理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1600"/>
              <a:t>通过</a:t>
            </a:r>
            <a:r>
              <a:rPr lang="en-US" altLang="zh-CN" sz="1600"/>
              <a:t> Pipeline </a:t>
            </a:r>
            <a:r>
              <a:rPr lang="zh-CN" altLang="en-US" sz="1600"/>
              <a:t>自动处理数据流，数据在爬取后直接存入数据库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0" y="2018030"/>
            <a:ext cx="32385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683" y="164638"/>
            <a:ext cx="2688299" cy="545242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分布式任务调度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80" y="16459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3050" y="896620"/>
            <a:ext cx="642747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zh-CN" sz="1600" b="1"/>
              <a:t>编写</a:t>
            </a:r>
            <a:r>
              <a:rPr lang="en-US" altLang="zh-CN" sz="1600" b="1"/>
              <a:t>celery</a:t>
            </a:r>
            <a:r>
              <a:rPr lang="zh-CN" altLang="en-US" sz="1600" b="1"/>
              <a:t>任务，</a:t>
            </a:r>
            <a:r>
              <a:rPr lang="en-US" altLang="zh-CN" sz="1600" b="1"/>
              <a:t>redis</a:t>
            </a:r>
            <a:r>
              <a:rPr lang="zh-CN" altLang="en-US" sz="1600" b="1"/>
              <a:t>作为消息队列</a:t>
            </a:r>
          </a:p>
        </p:txBody>
      </p:sp>
      <p:pic>
        <p:nvPicPr>
          <p:cNvPr id="5" name="图片 4"/>
          <p:cNvPicPr/>
          <p:nvPr/>
        </p:nvPicPr>
        <p:blipFill>
          <a:blip r:embed="rId4"/>
          <a:stretch>
            <a:fillRect/>
          </a:stretch>
        </p:blipFill>
        <p:spPr>
          <a:xfrm>
            <a:off x="5647690" y="454025"/>
            <a:ext cx="3456940" cy="28047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40" y="1420495"/>
            <a:ext cx="4527550" cy="25781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3375" y="46774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任务触发：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065" y="5265420"/>
            <a:ext cx="2552700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-48895" y="164465"/>
            <a:ext cx="2064385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scrapy-redis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80" y="164591"/>
            <a:ext cx="1028733" cy="102873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65760" y="929640"/>
            <a:ext cx="886968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Scrapy-Redis </a:t>
            </a:r>
            <a:r>
              <a:rPr lang="zh-CN" altLang="en-US"/>
              <a:t>是轻量化分布式解决方案，主要依赖 </a:t>
            </a:r>
            <a:r>
              <a:rPr lang="en-US" altLang="zh-CN"/>
              <a:t>Redis </a:t>
            </a:r>
            <a:r>
              <a:rPr lang="zh-CN" altLang="en-US"/>
              <a:t>的任务队列和去重机制</a:t>
            </a:r>
          </a:p>
          <a:p>
            <a:endParaRPr lang="zh-CN" altLang="en-US"/>
          </a:p>
          <a:p>
            <a:r>
              <a:rPr lang="en-US" altLang="zh-CN"/>
              <a:t>pip install scrapy-redis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65760" y="2071370"/>
            <a:ext cx="11680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Scrapy-Redis</a:t>
            </a:r>
            <a:r>
              <a:rPr lang="zh-CN" altLang="en-US"/>
              <a:t>内部集成了调度机制，使用</a:t>
            </a:r>
            <a:r>
              <a:rPr lang="en-US" altLang="zh-CN"/>
              <a:t> Redis </a:t>
            </a:r>
            <a:r>
              <a:rPr lang="zh-CN" altLang="en-US"/>
              <a:t>的</a:t>
            </a:r>
            <a:r>
              <a:rPr lang="en-US" altLang="zh-CN"/>
              <a:t> List </a:t>
            </a:r>
            <a:r>
              <a:rPr lang="zh-CN" altLang="en-US"/>
              <a:t>管理</a:t>
            </a:r>
            <a:r>
              <a:rPr lang="en-US" altLang="zh-CN"/>
              <a:t> URL </a:t>
            </a:r>
            <a:r>
              <a:rPr lang="zh-CN" altLang="en-US"/>
              <a:t>任务，实现多个</a:t>
            </a:r>
            <a:r>
              <a:rPr lang="en-US" altLang="zh-CN"/>
              <a:t> Scrapy </a:t>
            </a:r>
            <a:r>
              <a:rPr lang="zh-CN" altLang="en-US"/>
              <a:t>爬虫的去重与任务共享。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645" y="3188970"/>
            <a:ext cx="751205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2576830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scrapy-redis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案例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80" y="164591"/>
            <a:ext cx="1028733" cy="102873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6855" y="824865"/>
            <a:ext cx="10975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实现一个基于</a:t>
            </a:r>
            <a:r>
              <a:rPr lang="en-US" altLang="zh-CN"/>
              <a:t> Scrapy-Redis</a:t>
            </a:r>
            <a:r>
              <a:rPr lang="zh-CN" altLang="en-US"/>
              <a:t>的分布式爬虫，爬取豆瓣电影的相关信息，并存储到</a:t>
            </a:r>
            <a:r>
              <a:rPr lang="en-US" altLang="zh-CN"/>
              <a:t> MySQL </a:t>
            </a:r>
            <a:r>
              <a:rPr lang="zh-CN" altLang="en-US"/>
              <a:t>和</a:t>
            </a:r>
            <a:r>
              <a:rPr lang="en-US" altLang="zh-CN"/>
              <a:t> Redis </a:t>
            </a:r>
            <a:r>
              <a:rPr lang="zh-CN" altLang="en-US"/>
              <a:t>中。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45" y="1596390"/>
            <a:ext cx="4307205" cy="12528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01320" y="3576955"/>
            <a:ext cx="9911080" cy="1364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注：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RedisSpider</a:t>
            </a:r>
            <a:r>
              <a:rPr lang="zh-CN" altLang="en-US"/>
              <a:t>：</a:t>
            </a:r>
            <a:r>
              <a:rPr lang="en-US" altLang="zh-CN"/>
              <a:t>Scrapy-Redis </a:t>
            </a:r>
            <a:r>
              <a:rPr lang="zh-CN" altLang="en-US"/>
              <a:t>提供的爬虫模板，支持从</a:t>
            </a:r>
            <a:r>
              <a:rPr lang="en-US" altLang="zh-CN"/>
              <a:t> Redis </a:t>
            </a:r>
            <a:r>
              <a:rPr lang="zh-CN" altLang="en-US"/>
              <a:t>队列里读取</a:t>
            </a:r>
            <a:r>
              <a:rPr lang="en-US" altLang="zh-CN"/>
              <a:t> URL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redis_key</a:t>
            </a:r>
            <a:r>
              <a:rPr lang="zh-CN" altLang="en-US"/>
              <a:t>：</a:t>
            </a:r>
            <a:r>
              <a:rPr lang="en-US" altLang="zh-CN"/>
              <a:t>Redis </a:t>
            </a:r>
            <a:r>
              <a:rPr lang="zh-CN" altLang="en-US"/>
              <a:t>中</a:t>
            </a:r>
            <a:r>
              <a:rPr lang="en-US" altLang="zh-CN"/>
              <a:t> URL </a:t>
            </a:r>
            <a:r>
              <a:rPr lang="zh-CN" altLang="en-US"/>
              <a:t>队列的键，所有要爬取的链接都会从这个键读取。</a:t>
            </a:r>
            <a:endParaRPr lang="en-US" altLang="zh-CN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allowed_domains</a:t>
            </a:r>
            <a:r>
              <a:rPr lang="zh-CN" altLang="en-US"/>
              <a:t>：限制只能爬取</a:t>
            </a:r>
            <a:r>
              <a:rPr lang="en-US" altLang="zh-CN"/>
              <a:t> douban.com </a:t>
            </a:r>
            <a:r>
              <a:rPr lang="zh-CN" altLang="en-US"/>
              <a:t>域名。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2576830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scrapy-redis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案例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80" y="164591"/>
            <a:ext cx="1028733" cy="1028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8955" y="2959100"/>
            <a:ext cx="9911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获取一批待爬取的豆瓣链接，生成</a:t>
            </a:r>
            <a:r>
              <a:rPr lang="en-US" altLang="zh-CN"/>
              <a:t> Scrapy </a:t>
            </a:r>
            <a:r>
              <a:rPr lang="zh-CN" altLang="en-US"/>
              <a:t>请求，交给引擎去调度。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55" y="1096010"/>
            <a:ext cx="6482715" cy="12293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2576830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scrapy-redis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案例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80" y="164591"/>
            <a:ext cx="1028733" cy="102873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20" y="164465"/>
            <a:ext cx="8610600" cy="6089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4305" y="118427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解析电影字段信息：</a:t>
            </a:r>
          </a:p>
          <a:p>
            <a:r>
              <a:rPr lang="en-US" altLang="zh-CN"/>
              <a:t>movieId, title, ... ,</a:t>
            </a:r>
            <a:endParaRPr lang="zh-CN" altLang="en-US"/>
          </a:p>
          <a:p>
            <a:r>
              <a:rPr lang="en-US" altLang="zh-CN"/>
              <a:t>actor_img_list.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2576830" cy="545465"/>
            <a:chOff x="-36512" y="123478"/>
            <a:chExt cx="2016224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1920"/>
              <a:ext cx="1872208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scrapy-redis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案例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80" y="164591"/>
            <a:ext cx="1028733" cy="102873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4305" y="815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setting</a:t>
            </a:r>
            <a:r>
              <a:rPr lang="zh-CN" altLang="en-US"/>
              <a:t>配置</a:t>
            </a:r>
            <a:r>
              <a:rPr lang="zh-CN"/>
              <a:t>信息：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330960"/>
            <a:ext cx="5896610" cy="35032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1025" y="53327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设置</a:t>
            </a:r>
            <a:r>
              <a:rPr lang="en-US" altLang="zh-CN"/>
              <a:t>redis url</a:t>
            </a:r>
            <a:r>
              <a:rPr lang="zh-CN" altLang="en-US"/>
              <a:t>、</a:t>
            </a:r>
            <a:r>
              <a:rPr lang="en-US" altLang="zh-CN"/>
              <a:t>scheduler</a:t>
            </a:r>
            <a:r>
              <a:rPr lang="zh-CN" altLang="en-US"/>
              <a:t>，去重机制等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3578" y="1856853"/>
            <a:ext cx="7831800" cy="3945708"/>
            <a:chOff x="0" y="1826249"/>
            <a:chExt cx="5642446" cy="2910546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874471"/>
              <a:ext cx="5634402" cy="2862324"/>
            </a:xfrm>
            <a:prstGeom prst="rect">
              <a:avLst/>
            </a:prstGeom>
          </p:spPr>
        </p:pic>
        <p:sp>
          <p:nvSpPr>
            <p:cNvPr id="15" name="等腰三角形 14"/>
            <p:cNvSpPr/>
            <p:nvPr/>
          </p:nvSpPr>
          <p:spPr>
            <a:xfrm rot="10800000">
              <a:off x="4051063" y="1826249"/>
              <a:ext cx="1591383" cy="290824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1"/>
          <p:cNvSpPr/>
          <p:nvPr/>
        </p:nvSpPr>
        <p:spPr>
          <a:xfrm>
            <a:off x="2773322" y="2468330"/>
            <a:ext cx="7152117" cy="2784309"/>
          </a:xfrm>
          <a:custGeom>
            <a:avLst/>
            <a:gdLst>
              <a:gd name="connsiteX0" fmla="*/ 0 w 4211960"/>
              <a:gd name="connsiteY0" fmla="*/ 0 h 2088232"/>
              <a:gd name="connsiteX1" fmla="*/ 4211960 w 4211960"/>
              <a:gd name="connsiteY1" fmla="*/ 0 h 2088232"/>
              <a:gd name="connsiteX2" fmla="*/ 4211960 w 4211960"/>
              <a:gd name="connsiteY2" fmla="*/ 2088232 h 2088232"/>
              <a:gd name="connsiteX3" fmla="*/ 0 w 4211960"/>
              <a:gd name="connsiteY3" fmla="*/ 2088232 h 2088232"/>
              <a:gd name="connsiteX4" fmla="*/ 0 w 4211960"/>
              <a:gd name="connsiteY4" fmla="*/ 0 h 2088232"/>
              <a:gd name="connsiteX0-1" fmla="*/ 0 w 4211960"/>
              <a:gd name="connsiteY0-2" fmla="*/ 0 h 2088232"/>
              <a:gd name="connsiteX1-3" fmla="*/ 3101133 w 4211960"/>
              <a:gd name="connsiteY1-4" fmla="*/ 0 h 2088232"/>
              <a:gd name="connsiteX2-5" fmla="*/ 4211960 w 4211960"/>
              <a:gd name="connsiteY2-6" fmla="*/ 2088232 h 2088232"/>
              <a:gd name="connsiteX3-7" fmla="*/ 0 w 4211960"/>
              <a:gd name="connsiteY3-8" fmla="*/ 2088232 h 2088232"/>
              <a:gd name="connsiteX4-9" fmla="*/ 0 w 4211960"/>
              <a:gd name="connsiteY4-10" fmla="*/ 0 h 2088232"/>
              <a:gd name="connsiteX0-11" fmla="*/ 0 w 4211960"/>
              <a:gd name="connsiteY0-12" fmla="*/ 0 h 2088232"/>
              <a:gd name="connsiteX1-13" fmla="*/ 3281963 w 4211960"/>
              <a:gd name="connsiteY1-14" fmla="*/ 0 h 2088232"/>
              <a:gd name="connsiteX2-15" fmla="*/ 4211960 w 4211960"/>
              <a:gd name="connsiteY2-16" fmla="*/ 2088232 h 2088232"/>
              <a:gd name="connsiteX3-17" fmla="*/ 0 w 4211960"/>
              <a:gd name="connsiteY3-18" fmla="*/ 2088232 h 2088232"/>
              <a:gd name="connsiteX4-19" fmla="*/ 0 w 4211960"/>
              <a:gd name="connsiteY4-20" fmla="*/ 0 h 2088232"/>
              <a:gd name="connsiteX0-21" fmla="*/ 0 w 4211960"/>
              <a:gd name="connsiteY0-22" fmla="*/ 0 h 2088232"/>
              <a:gd name="connsiteX1-23" fmla="*/ 3319192 w 4211960"/>
              <a:gd name="connsiteY1-24" fmla="*/ 0 h 2088232"/>
              <a:gd name="connsiteX2-25" fmla="*/ 4211960 w 4211960"/>
              <a:gd name="connsiteY2-26" fmla="*/ 2088232 h 2088232"/>
              <a:gd name="connsiteX3-27" fmla="*/ 0 w 4211960"/>
              <a:gd name="connsiteY3-28" fmla="*/ 2088232 h 2088232"/>
              <a:gd name="connsiteX4-29" fmla="*/ 0 w 4211960"/>
              <a:gd name="connsiteY4-30" fmla="*/ 0 h 2088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211960" h="2088232">
                <a:moveTo>
                  <a:pt x="0" y="0"/>
                </a:moveTo>
                <a:lnTo>
                  <a:pt x="3319192" y="0"/>
                </a:lnTo>
                <a:lnTo>
                  <a:pt x="4211960" y="2088232"/>
                </a:lnTo>
                <a:lnTo>
                  <a:pt x="0" y="2088232"/>
                </a:lnTo>
                <a:lnTo>
                  <a:pt x="0" y="0"/>
                </a:lnTo>
                <a:close/>
              </a:path>
            </a:pathLst>
          </a:custGeom>
          <a:solidFill>
            <a:srgbClr val="016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1007435" y="3121821"/>
            <a:ext cx="42858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拓展练习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286959" y="3389379"/>
            <a:ext cx="157225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000" dirty="0">
                <a:solidFill>
                  <a:schemeClr val="bg1"/>
                </a:solidFill>
                <a:latin typeface="Stencil Std" panose="04020904080802020404" pitchFamily="82" charset="0"/>
                <a:ea typeface="方正黑体简体" panose="02010601030101010101" pitchFamily="2" charset="-122"/>
              </a:rPr>
              <a:t>04</a:t>
            </a:r>
            <a:endParaRPr lang="zh-CN" altLang="en-US" sz="8000" dirty="0">
              <a:solidFill>
                <a:schemeClr val="bg1"/>
              </a:solidFill>
              <a:latin typeface="Stencil Std" panose="04020904080802020404" pitchFamily="82" charset="0"/>
              <a:ea typeface="方正黑体简体" panose="02010601030101010101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8759054" y="1796819"/>
            <a:ext cx="2760644" cy="506118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008914" y="0"/>
            <a:ext cx="1204562" cy="2180580"/>
          </a:xfrm>
          <a:prstGeom prst="line">
            <a:avLst/>
          </a:prstGeom>
          <a:ln w="19050">
            <a:solidFill>
              <a:srgbClr val="0163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90468" y="392388"/>
            <a:ext cx="1438275" cy="398780"/>
          </a:xfrm>
          <a:prstGeom prst="rect">
            <a:avLst/>
          </a:prstGeom>
        </p:spPr>
        <p:txBody>
          <a:bodyPr wrap="none" rIns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业务背景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-48895" y="164465"/>
            <a:ext cx="3193415" cy="545465"/>
            <a:chOff x="-36512" y="123478"/>
            <a:chExt cx="2094071" cy="408931"/>
          </a:xfrm>
        </p:grpSpPr>
        <p:sp>
          <p:nvSpPr>
            <p:cNvPr id="60" name="矩形 1"/>
            <p:cNvSpPr/>
            <p:nvPr/>
          </p:nvSpPr>
          <p:spPr>
            <a:xfrm>
              <a:off x="0" y="123478"/>
              <a:ext cx="1979712" cy="408931"/>
            </a:xfrm>
            <a:custGeom>
              <a:avLst/>
              <a:gdLst>
                <a:gd name="connsiteX0" fmla="*/ 0 w 4211960"/>
                <a:gd name="connsiteY0" fmla="*/ 0 h 2088232"/>
                <a:gd name="connsiteX1" fmla="*/ 4211960 w 4211960"/>
                <a:gd name="connsiteY1" fmla="*/ 0 h 2088232"/>
                <a:gd name="connsiteX2" fmla="*/ 4211960 w 4211960"/>
                <a:gd name="connsiteY2" fmla="*/ 2088232 h 2088232"/>
                <a:gd name="connsiteX3" fmla="*/ 0 w 4211960"/>
                <a:gd name="connsiteY3" fmla="*/ 2088232 h 2088232"/>
                <a:gd name="connsiteX4" fmla="*/ 0 w 4211960"/>
                <a:gd name="connsiteY4" fmla="*/ 0 h 2088232"/>
                <a:gd name="connsiteX0-1" fmla="*/ 0 w 4211960"/>
                <a:gd name="connsiteY0-2" fmla="*/ 0 h 2088232"/>
                <a:gd name="connsiteX1-3" fmla="*/ 3101133 w 4211960"/>
                <a:gd name="connsiteY1-4" fmla="*/ 0 h 2088232"/>
                <a:gd name="connsiteX2-5" fmla="*/ 4211960 w 4211960"/>
                <a:gd name="connsiteY2-6" fmla="*/ 2088232 h 2088232"/>
                <a:gd name="connsiteX3-7" fmla="*/ 0 w 4211960"/>
                <a:gd name="connsiteY3-8" fmla="*/ 2088232 h 2088232"/>
                <a:gd name="connsiteX4-9" fmla="*/ 0 w 4211960"/>
                <a:gd name="connsiteY4-10" fmla="*/ 0 h 2088232"/>
                <a:gd name="connsiteX0-11" fmla="*/ 0 w 4211960"/>
                <a:gd name="connsiteY0-12" fmla="*/ 0 h 2088232"/>
                <a:gd name="connsiteX1-13" fmla="*/ 3281963 w 4211960"/>
                <a:gd name="connsiteY1-14" fmla="*/ 0 h 2088232"/>
                <a:gd name="connsiteX2-15" fmla="*/ 4211960 w 4211960"/>
                <a:gd name="connsiteY2-16" fmla="*/ 2088232 h 2088232"/>
                <a:gd name="connsiteX3-17" fmla="*/ 0 w 4211960"/>
                <a:gd name="connsiteY3-18" fmla="*/ 2088232 h 2088232"/>
                <a:gd name="connsiteX4-19" fmla="*/ 0 w 4211960"/>
                <a:gd name="connsiteY4-20" fmla="*/ 0 h 2088232"/>
                <a:gd name="connsiteX0-21" fmla="*/ 0 w 4211960"/>
                <a:gd name="connsiteY0-22" fmla="*/ 0 h 2088232"/>
                <a:gd name="connsiteX1-23" fmla="*/ 3319192 w 4211960"/>
                <a:gd name="connsiteY1-24" fmla="*/ 0 h 2088232"/>
                <a:gd name="connsiteX2-25" fmla="*/ 4211960 w 4211960"/>
                <a:gd name="connsiteY2-26" fmla="*/ 2088232 h 2088232"/>
                <a:gd name="connsiteX3-27" fmla="*/ 0 w 4211960"/>
                <a:gd name="connsiteY3-28" fmla="*/ 2088232 h 2088232"/>
                <a:gd name="connsiteX4-29" fmla="*/ 0 w 4211960"/>
                <a:gd name="connsiteY4-30" fmla="*/ 0 h 20882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211960" h="2088232">
                  <a:moveTo>
                    <a:pt x="0" y="0"/>
                  </a:moveTo>
                  <a:lnTo>
                    <a:pt x="3319192" y="0"/>
                  </a:lnTo>
                  <a:lnTo>
                    <a:pt x="4211960" y="2088232"/>
                  </a:lnTo>
                  <a:lnTo>
                    <a:pt x="0" y="2088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6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-36512" y="162054"/>
              <a:ext cx="2094071" cy="283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拓展</a:t>
              </a:r>
              <a:r>
                <a:rPr lang="zh-CN" altLang="en-US" sz="1865" dirty="0">
                  <a:solidFill>
                    <a:schemeClr val="bg1"/>
                  </a:solidFill>
                  <a:latin typeface="方正黑体简体" panose="02010601030101010101" pitchFamily="2" charset="-122"/>
                  <a:ea typeface="方正黑体简体" panose="02010601030101010101" pitchFamily="2" charset="-122"/>
                </a:rPr>
                <a:t>练习</a:t>
              </a:r>
              <a:endParaRPr lang="zh-CN" sz="1865" dirty="0">
                <a:solidFill>
                  <a:schemeClr val="bg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555" y="96011"/>
            <a:ext cx="1028733" cy="10287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1035" y="1122045"/>
            <a:ext cx="7778750" cy="86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/>
              <a:t>1. </a:t>
            </a:r>
            <a:r>
              <a:rPr lang="zh-CN" altLang="en-US"/>
              <a:t>了解</a:t>
            </a:r>
            <a:r>
              <a:rPr lang="en-US" altLang="zh-CN"/>
              <a:t>scrapy</a:t>
            </a:r>
            <a:r>
              <a:rPr lang="zh-CN" altLang="en-US"/>
              <a:t>、</a:t>
            </a:r>
            <a:r>
              <a:rPr lang="en-US" altLang="zh-CN"/>
              <a:t>MongoDB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的用法</a:t>
            </a:r>
            <a:endParaRPr lang="en-US" altLang="zh-CN"/>
          </a:p>
          <a:p>
            <a:pPr>
              <a:lnSpc>
                <a:spcPct val="140000"/>
              </a:lnSpc>
            </a:pPr>
            <a:r>
              <a:rPr lang="en-US" altLang="zh-CN"/>
              <a:t>2. </a:t>
            </a:r>
            <a:r>
              <a:rPr lang="zh-CN" altLang="en-US"/>
              <a:t>实现</a:t>
            </a:r>
            <a:r>
              <a:rPr lang="zh-CN" altLang="en-US" b="1"/>
              <a:t>豆瓣电影</a:t>
            </a:r>
            <a:r>
              <a:rPr lang="en-US" altLang="zh-CN" b="1"/>
              <a:t>top250</a:t>
            </a:r>
            <a:r>
              <a:rPr lang="zh-CN" altLang="en-US"/>
              <a:t>的简易分布式爬虫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cyNTc2YzlhNDFjMjczNzQwNDkxZWVkNTdhNjA3Y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61952755905526,&quot;left&quot;:577.5344094488189,&quot;top&quot;:87.53763779527559,&quot;width&quot;:354.475905511811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1148</Words>
  <Application>Microsoft Office PowerPoint</Application>
  <PresentationFormat>宽屏</PresentationFormat>
  <Paragraphs>150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Alibaba PuHuiTi R</vt:lpstr>
      <vt:lpstr>Stencil Std</vt:lpstr>
      <vt:lpstr>等线</vt:lpstr>
      <vt:lpstr>等线 Light</vt:lpstr>
      <vt:lpstr>方正黑体简体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Junhao ZHANG</cp:lastModifiedBy>
  <cp:revision>263</cp:revision>
  <dcterms:created xsi:type="dcterms:W3CDTF">2023-10-28T05:40:00Z</dcterms:created>
  <dcterms:modified xsi:type="dcterms:W3CDTF">2026-07-06T07:49:56Z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8AEF69F717F259CFE39E3C65F5086652</vt:lpwstr>
  </property>
  <property fmtid="{D5CDD505-2E9C-101B-9397-08002B2CF9AE}" pid="3" name="KSOProductBuildVer">
    <vt:lpwstr>2052-12.1.0.21171</vt:lpwstr>
  </property>
</Properties>
</file>