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13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371"/>
    <a:srgbClr val="00CEEA"/>
    <a:srgbClr val="D9FAFF"/>
    <a:srgbClr val="BDFFFD"/>
    <a:srgbClr val="01A1B7"/>
    <a:srgbClr val="02B6CE"/>
    <a:srgbClr val="018091"/>
    <a:srgbClr val="018A9D"/>
    <a:srgbClr val="ADFDF0"/>
    <a:srgbClr val="57F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86" autoAdjust="0"/>
    <p:restoredTop sz="75170" autoAdjust="0"/>
  </p:normalViewPr>
  <p:slideViewPr>
    <p:cSldViewPr snapToGrid="0">
      <p:cViewPr varScale="1">
        <p:scale>
          <a:sx n="66" d="100"/>
          <a:sy n="66" d="100"/>
        </p:scale>
        <p:origin x="119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D39DD-DA48-48EB-BF0E-974F06DD747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430CC-CF76-4512-9E43-F5E43EF3EE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430CC-CF76-4512-9E43-F5E43EF3EED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3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0" y="0"/>
            <a:ext cx="12192000" cy="6858001"/>
            <a:chOff x="2" y="0"/>
            <a:chExt cx="12192000" cy="6858001"/>
          </a:xfrm>
        </p:grpSpPr>
        <p:grpSp>
          <p:nvGrpSpPr>
            <p:cNvPr id="5" name="组合 4"/>
            <p:cNvGrpSpPr/>
            <p:nvPr/>
          </p:nvGrpSpPr>
          <p:grpSpPr>
            <a:xfrm>
              <a:off x="2" y="0"/>
              <a:ext cx="3135084" cy="5941181"/>
              <a:chOff x="0" y="0"/>
              <a:chExt cx="2590667" cy="4976958"/>
            </a:xfrm>
          </p:grpSpPr>
          <p:sp>
            <p:nvSpPr>
              <p:cNvPr id="9" name="矩形 1"/>
              <p:cNvSpPr/>
              <p:nvPr/>
            </p:nvSpPr>
            <p:spPr>
              <a:xfrm>
                <a:off x="0" y="0"/>
                <a:ext cx="2590667" cy="4976958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0" name="矩形 1"/>
              <p:cNvSpPr/>
              <p:nvPr/>
            </p:nvSpPr>
            <p:spPr>
              <a:xfrm>
                <a:off x="0" y="0"/>
                <a:ext cx="2590667" cy="368957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463315" y="1664306"/>
              <a:ext cx="2728687" cy="5193695"/>
              <a:chOff x="7715421" y="1884933"/>
              <a:chExt cx="1428579" cy="3258567"/>
            </a:xfrm>
          </p:grpSpPr>
          <p:sp>
            <p:nvSpPr>
              <p:cNvPr id="7" name="矩形 10"/>
              <p:cNvSpPr/>
              <p:nvPr/>
            </p:nvSpPr>
            <p:spPr>
              <a:xfrm>
                <a:off x="7715421" y="1884933"/>
                <a:ext cx="1428579" cy="325856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8" name="矩形 10"/>
              <p:cNvSpPr/>
              <p:nvPr/>
            </p:nvSpPr>
            <p:spPr>
              <a:xfrm>
                <a:off x="7715421" y="2606134"/>
                <a:ext cx="1428579" cy="2537366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1028700" y="2813685"/>
            <a:ext cx="98653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>
                <a:gradFill flip="none" rotWithShape="1">
                  <a:gsLst>
                    <a:gs pos="53000">
                      <a:srgbClr val="FFC000"/>
                    </a:gs>
                    <a:gs pos="84000">
                      <a:schemeClr val="accent6">
                        <a:lumMod val="0"/>
                        <a:lumOff val="100000"/>
                      </a:schemeClr>
                    </a:gs>
                    <a:gs pos="20000">
                      <a:srgbClr val="FF9900"/>
                    </a:gs>
                  </a:gsLst>
                  <a:lin ang="16200000" scaled="1"/>
                  <a:tileRect/>
                </a:gradFill>
                <a:effectLst>
                  <a:outerShdw blurRad="101600" dist="38100" dir="5400000" algn="t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社交媒体数据获取</a:t>
            </a:r>
            <a:r>
              <a:rPr lang="en-US" altLang="zh-CN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      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515745" y="3539490"/>
            <a:ext cx="8890635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04994" y="4230741"/>
            <a:ext cx="4417643" cy="40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AI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程序设计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2" y="222267"/>
            <a:ext cx="2333625" cy="7429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40886" y="6184540"/>
            <a:ext cx="21465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202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6</a:t>
            </a:r>
            <a:r>
              <a:rPr lang="en-US" sz="1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.</a:t>
            </a:r>
            <a:r>
              <a:rPr lang="en-US" altLang="zh-CN" sz="1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07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"/>
          <p:cNvSpPr/>
          <p:nvPr/>
        </p:nvSpPr>
        <p:spPr>
          <a:xfrm>
            <a:off x="1" y="2468894"/>
            <a:ext cx="6777865" cy="3360372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" name="Group 32" hidden="1"/>
          <p:cNvGrpSpPr/>
          <p:nvPr/>
        </p:nvGrpSpPr>
        <p:grpSpPr>
          <a:xfrm>
            <a:off x="0" y="1943976"/>
            <a:ext cx="10573704" cy="1670827"/>
            <a:chOff x="-41328" y="1943975"/>
            <a:chExt cx="11361717" cy="1670826"/>
          </a:xfrm>
        </p:grpSpPr>
        <p:cxnSp>
          <p:nvCxnSpPr>
            <p:cNvPr id="46" name="Straight Connector 10"/>
            <p:cNvCxnSpPr>
              <a:stCxn id="42" idx="0"/>
            </p:cNvCxnSpPr>
            <p:nvPr/>
          </p:nvCxnSpPr>
          <p:spPr>
            <a:xfrm>
              <a:off x="-41328" y="2468892"/>
              <a:ext cx="2007072" cy="1145909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3"/>
            <p:cNvCxnSpPr/>
            <p:nvPr/>
          </p:nvCxnSpPr>
          <p:spPr>
            <a:xfrm>
              <a:off x="189793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8"/>
            <p:cNvCxnSpPr/>
            <p:nvPr/>
          </p:nvCxnSpPr>
          <p:spPr>
            <a:xfrm flipH="1">
              <a:off x="294092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23"/>
            <p:cNvCxnSpPr/>
            <p:nvPr/>
          </p:nvCxnSpPr>
          <p:spPr>
            <a:xfrm>
              <a:off x="399236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4"/>
            <p:cNvCxnSpPr/>
            <p:nvPr/>
          </p:nvCxnSpPr>
          <p:spPr>
            <a:xfrm flipH="1">
              <a:off x="503536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5"/>
            <p:cNvCxnSpPr/>
            <p:nvPr/>
          </p:nvCxnSpPr>
          <p:spPr>
            <a:xfrm>
              <a:off x="608680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6"/>
            <p:cNvCxnSpPr/>
            <p:nvPr/>
          </p:nvCxnSpPr>
          <p:spPr>
            <a:xfrm flipH="1">
              <a:off x="712979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7"/>
            <p:cNvCxnSpPr/>
            <p:nvPr/>
          </p:nvCxnSpPr>
          <p:spPr>
            <a:xfrm>
              <a:off x="818123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28"/>
            <p:cNvCxnSpPr/>
            <p:nvPr/>
          </p:nvCxnSpPr>
          <p:spPr>
            <a:xfrm flipH="1">
              <a:off x="922423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9"/>
            <p:cNvCxnSpPr/>
            <p:nvPr/>
          </p:nvCxnSpPr>
          <p:spPr>
            <a:xfrm>
              <a:off x="1027567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1"/>
          <p:cNvSpPr/>
          <p:nvPr/>
        </p:nvSpPr>
        <p:spPr>
          <a:xfrm>
            <a:off x="0" y="1892830"/>
            <a:ext cx="561594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7" name="Group 5"/>
          <p:cNvGrpSpPr/>
          <p:nvPr>
            <p:custDataLst>
              <p:tags r:id="rId1"/>
            </p:custDataLst>
          </p:nvPr>
        </p:nvGrpSpPr>
        <p:grpSpPr>
          <a:xfrm>
            <a:off x="7334687" y="1111728"/>
            <a:ext cx="4477601" cy="707887"/>
            <a:chOff x="1598315" y="1418185"/>
            <a:chExt cx="4477601" cy="707886"/>
          </a:xfrm>
        </p:grpSpPr>
        <p:sp>
          <p:nvSpPr>
            <p:cNvPr id="58" name="TextBox 6"/>
            <p:cNvSpPr txBox="1"/>
            <p:nvPr>
              <p:custDataLst>
                <p:tags r:id="rId11"/>
              </p:custDataLst>
            </p:nvPr>
          </p:nvSpPr>
          <p:spPr>
            <a:xfrm>
              <a:off x="1598315" y="1418185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r>
                <a:rPr lang="en-US" altLang="zh-CN" sz="53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01</a:t>
              </a:r>
            </a:p>
          </p:txBody>
        </p:sp>
        <p:sp>
          <p:nvSpPr>
            <p:cNvPr id="60" name="TextBox 8"/>
            <p:cNvSpPr txBox="1"/>
            <p:nvPr>
              <p:custDataLst>
                <p:tags r:id="rId12"/>
              </p:custDataLst>
            </p:nvPr>
          </p:nvSpPr>
          <p:spPr>
            <a:xfrm>
              <a:off x="2113342" y="1509514"/>
              <a:ext cx="3962574" cy="525227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Autofit/>
            </a:bodyPr>
            <a:lstStyle/>
            <a:p>
              <a:r>
                <a:rPr lang="zh-CN" altLang="en-US" sz="2665" dirty="0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学习目标</a:t>
              </a:r>
            </a:p>
          </p:txBody>
        </p:sp>
      </p:grpSp>
      <p:grpSp>
        <p:nvGrpSpPr>
          <p:cNvPr id="64" name="Group 10"/>
          <p:cNvGrpSpPr/>
          <p:nvPr>
            <p:custDataLst>
              <p:tags r:id="rId2"/>
            </p:custDataLst>
          </p:nvPr>
        </p:nvGrpSpPr>
        <p:grpSpPr>
          <a:xfrm>
            <a:off x="7356350" y="2359197"/>
            <a:ext cx="3767777" cy="707889"/>
            <a:chOff x="1573003" y="2960430"/>
            <a:chExt cx="3767778" cy="707887"/>
          </a:xfrm>
        </p:grpSpPr>
        <p:sp>
          <p:nvSpPr>
            <p:cNvPr id="65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573003" y="2960430"/>
              <a:ext cx="718465" cy="707887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02</a:t>
              </a:r>
            </a:p>
          </p:txBody>
        </p:sp>
        <p:sp>
          <p:nvSpPr>
            <p:cNvPr id="89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2096672" y="3010990"/>
              <a:ext cx="3244109" cy="563232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结构框架</a:t>
              </a:r>
            </a:p>
          </p:txBody>
        </p:sp>
      </p:grpSp>
      <p:grpSp>
        <p:nvGrpSpPr>
          <p:cNvPr id="91" name="Group 15"/>
          <p:cNvGrpSpPr/>
          <p:nvPr>
            <p:custDataLst>
              <p:tags r:id="rId3"/>
            </p:custDataLst>
          </p:nvPr>
        </p:nvGrpSpPr>
        <p:grpSpPr>
          <a:xfrm>
            <a:off x="7381662" y="3480329"/>
            <a:ext cx="4454869" cy="707887"/>
            <a:chOff x="1598315" y="4154489"/>
            <a:chExt cx="4454870" cy="707886"/>
          </a:xfrm>
        </p:grpSpPr>
        <p:sp>
          <p:nvSpPr>
            <p:cNvPr id="92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1598315" y="4154489"/>
              <a:ext cx="73289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03</a:t>
              </a:r>
            </a:p>
          </p:txBody>
        </p:sp>
        <p:sp>
          <p:nvSpPr>
            <p:cNvPr id="94" name="TextBox 18"/>
            <p:cNvSpPr txBox="1"/>
            <p:nvPr>
              <p:custDataLst>
                <p:tags r:id="rId8"/>
              </p:custDataLst>
            </p:nvPr>
          </p:nvSpPr>
          <p:spPr>
            <a:xfrm>
              <a:off x="2090611" y="4271520"/>
              <a:ext cx="3962574" cy="520360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具体步骤</a:t>
              </a:r>
              <a:endParaRPr lang="zh-CN" altLang="en-US" sz="2665" dirty="0">
                <a:solidFill>
                  <a:srgbClr val="01637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grpSp>
        <p:nvGrpSpPr>
          <p:cNvPr id="96" name="Group 20"/>
          <p:cNvGrpSpPr/>
          <p:nvPr>
            <p:custDataLst>
              <p:tags r:id="rId4"/>
            </p:custDataLst>
          </p:nvPr>
        </p:nvGrpSpPr>
        <p:grpSpPr>
          <a:xfrm>
            <a:off x="7381662" y="4742408"/>
            <a:ext cx="4430625" cy="707888"/>
            <a:chOff x="1598315" y="5522641"/>
            <a:chExt cx="4430626" cy="707886"/>
          </a:xfrm>
        </p:grpSpPr>
        <p:sp>
          <p:nvSpPr>
            <p:cNvPr id="97" name="TextBox 21"/>
            <p:cNvSpPr txBox="1"/>
            <p:nvPr>
              <p:custDataLst>
                <p:tags r:id="rId5"/>
              </p:custDataLst>
            </p:nvPr>
          </p:nvSpPr>
          <p:spPr>
            <a:xfrm>
              <a:off x="1598315" y="5522641"/>
              <a:ext cx="71686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04</a:t>
              </a:r>
            </a:p>
          </p:txBody>
        </p:sp>
        <p:sp>
          <p:nvSpPr>
            <p:cNvPr id="99" name="TextBox 23"/>
            <p:cNvSpPr txBox="1"/>
            <p:nvPr>
              <p:custDataLst>
                <p:tags r:id="rId6"/>
              </p:custDataLst>
            </p:nvPr>
          </p:nvSpPr>
          <p:spPr>
            <a:xfrm>
              <a:off x="2066367" y="5693126"/>
              <a:ext cx="3962574" cy="442856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实验任务</a:t>
              </a:r>
            </a:p>
          </p:txBody>
        </p:sp>
      </p:grpSp>
      <p:grpSp>
        <p:nvGrpSpPr>
          <p:cNvPr id="101" name="Group 9"/>
          <p:cNvGrpSpPr/>
          <p:nvPr/>
        </p:nvGrpSpPr>
        <p:grpSpPr>
          <a:xfrm>
            <a:off x="391262" y="4785017"/>
            <a:ext cx="5190430" cy="1925611"/>
            <a:chOff x="-1478936" y="2498602"/>
            <a:chExt cx="6059079" cy="2247874"/>
          </a:xfrm>
        </p:grpSpPr>
        <p:sp>
          <p:nvSpPr>
            <p:cNvPr id="102" name="TextBox 7"/>
            <p:cNvSpPr txBox="1"/>
            <p:nvPr/>
          </p:nvSpPr>
          <p:spPr>
            <a:xfrm>
              <a:off x="1943568" y="2498602"/>
              <a:ext cx="2636575" cy="224787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  目   录</a:t>
              </a:r>
            </a:p>
          </p:txBody>
        </p:sp>
        <p:sp>
          <p:nvSpPr>
            <p:cNvPr id="103" name="TextBox 8"/>
            <p:cNvSpPr txBox="1"/>
            <p:nvPr/>
          </p:nvSpPr>
          <p:spPr>
            <a:xfrm>
              <a:off x="-1478936" y="3246091"/>
              <a:ext cx="2217541" cy="56877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altLang="zh-CN" sz="213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CONTENTS</a:t>
              </a: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5332811" y="3689648"/>
            <a:ext cx="1728192" cy="316835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4471"/>
            <a:ext cx="5634402" cy="2862324"/>
          </a:xfrm>
          <a:prstGeom prst="rect">
            <a:avLst/>
          </a:prstGeom>
        </p:spPr>
      </p:pic>
      <p:sp>
        <p:nvSpPr>
          <p:cNvPr id="4" name="等腰三角形 3"/>
          <p:cNvSpPr/>
          <p:nvPr/>
        </p:nvSpPr>
        <p:spPr>
          <a:xfrm rot="10800000">
            <a:off x="4051063" y="1826249"/>
            <a:ext cx="1591383" cy="290824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 rot="10800000">
            <a:off x="5070475" y="3696303"/>
            <a:ext cx="573564" cy="1046099"/>
          </a:xfrm>
          <a:prstGeom prst="triangle">
            <a:avLst>
              <a:gd name="adj" fmla="val 0"/>
            </a:avLst>
          </a:pr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>
            <a:off x="2724207" y="0"/>
            <a:ext cx="1728192" cy="3168352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学习目标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0500" y="1004570"/>
            <a:ext cx="1164209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综合实验：实现社交媒体数据（如小红书）的获取与分析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01620" y="52228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rgbClr val="6A8759"/>
                </a:solidFill>
                <a:latin typeface="JetBrains Mono"/>
                <a:ea typeface="JetBrains Mono"/>
              </a:rPr>
              <a:t>https://www.xiaohongshu.com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6555" y="1529080"/>
            <a:ext cx="111048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应具备以下要素：</a:t>
            </a:r>
          </a:p>
          <a:p>
            <a:r>
              <a:rPr lang="en-US" altLang="zh-CN"/>
              <a:t>1. </a:t>
            </a:r>
            <a:r>
              <a:rPr lang="zh-CN" altLang="en-US"/>
              <a:t>存储配置信息：包括数据库连接、登录账号密码等。</a:t>
            </a:r>
          </a:p>
          <a:p>
            <a:r>
              <a:rPr lang="en-US" altLang="zh-CN"/>
              <a:t>2. </a:t>
            </a:r>
            <a:r>
              <a:rPr lang="zh-CN" altLang="en-US"/>
              <a:t>绕过验证码：尝试识别登录页面上的验证码并自动处理。</a:t>
            </a:r>
          </a:p>
          <a:p>
            <a:r>
              <a:rPr lang="en-US" altLang="zh-CN"/>
              <a:t>3. </a:t>
            </a:r>
            <a:r>
              <a:rPr lang="zh-CN" altLang="en-US"/>
              <a:t>维护一个</a:t>
            </a:r>
            <a:r>
              <a:rPr lang="en-US" altLang="zh-CN"/>
              <a:t>client</a:t>
            </a:r>
            <a:r>
              <a:rPr lang="zh-CN" altLang="en-US"/>
              <a:t>：处理主爬虫逻辑的运行，包括任务调度和页面解析。</a:t>
            </a:r>
          </a:p>
          <a:p>
            <a:r>
              <a:rPr lang="en-US" altLang="zh-CN"/>
              <a:t>4. </a:t>
            </a:r>
            <a:r>
              <a:rPr lang="zh-CN" altLang="en-US"/>
              <a:t>设置邮件通知与错误处理：在验证码识别失败、爬虫出错时能及时发送提醒。</a:t>
            </a:r>
          </a:p>
          <a:p>
            <a:r>
              <a:rPr lang="en-US"/>
              <a:t>5. </a:t>
            </a:r>
            <a:r>
              <a:rPr lang="zh-CN" altLang="en-US"/>
              <a:t>数据统计与分析：包括数据抓取的成功率、失败率、处理速度等。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使用工具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7965" y="1307465"/>
            <a:ext cx="10436225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ym typeface="+mn-ea"/>
              </a:rPr>
              <a:t>1. socket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底层网络接口，建立</a:t>
            </a:r>
            <a:r>
              <a:rPr lang="en-US" altLang="zh-CN" dirty="0">
                <a:sym typeface="+mn-ea"/>
              </a:rPr>
              <a:t>server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client</a:t>
            </a:r>
            <a:r>
              <a:rPr lang="zh-CN" altLang="en-US" dirty="0">
                <a:sym typeface="+mn-ea"/>
              </a:rPr>
              <a:t>间通信 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ym typeface="+mn-ea"/>
              </a:rPr>
              <a:t>2. DrissionPage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 网页爬取自动化工具，对反爬更鲁棒</a:t>
            </a:r>
            <a:endParaRPr lang="en-US" altLang="zh-CN" dirty="0"/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 err="1">
                <a:sym typeface="+mn-ea"/>
              </a:rPr>
              <a:t>3. </a:t>
            </a:r>
            <a:r>
              <a:rPr lang="en-US" altLang="zh-CN" b="1" dirty="0">
                <a:sym typeface="+mn-ea"/>
              </a:rPr>
              <a:t>requests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HTTP </a:t>
            </a:r>
            <a:r>
              <a:rPr lang="zh-CN" altLang="en-US" dirty="0">
                <a:sym typeface="+mn-ea"/>
              </a:rPr>
              <a:t>请求库，获取网页源代码或文件资源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ym typeface="+mn-ea"/>
              </a:rPr>
              <a:t>4. re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 正则表达式，用于匹配 </a:t>
            </a:r>
            <a:r>
              <a:rPr lang="en-US" altLang="zh-CN" dirty="0">
                <a:sym typeface="+mn-ea"/>
              </a:rPr>
              <a:t>URL </a:t>
            </a:r>
            <a:r>
              <a:rPr lang="zh-CN" altLang="en-US" dirty="0">
                <a:sym typeface="+mn-ea"/>
              </a:rPr>
              <a:t>等关键信息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5. PIL</a:t>
            </a:r>
            <a:r>
              <a:rPr lang="zh-CN" altLang="en-US" b="1" dirty="0"/>
              <a:t>、</a:t>
            </a:r>
            <a:r>
              <a:rPr lang="en-US" altLang="zh-CN" b="1" dirty="0"/>
              <a:t>base64</a:t>
            </a:r>
            <a:r>
              <a:rPr lang="zh-CN" altLang="en-US" b="1" dirty="0"/>
              <a:t>：</a:t>
            </a:r>
            <a:r>
              <a:rPr lang="zh-CN" altLang="en-US" dirty="0"/>
              <a:t>识别处理验证码图片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6. ffmpeg</a:t>
            </a:r>
            <a:r>
              <a:rPr lang="zh-CN" altLang="en-US" b="1" dirty="0"/>
              <a:t>：</a:t>
            </a:r>
            <a:r>
              <a:rPr lang="zh-CN" altLang="en-US" dirty="0"/>
              <a:t>视频合成工具，将</a:t>
            </a:r>
            <a:r>
              <a:rPr lang="en-US" altLang="zh-CN" dirty="0"/>
              <a:t>ts</a:t>
            </a:r>
            <a:r>
              <a:rPr lang="zh-CN" altLang="en-US" dirty="0"/>
              <a:t>合并内容转化为</a:t>
            </a:r>
            <a:r>
              <a:rPr lang="en-US" altLang="zh-CN" dirty="0"/>
              <a:t>mp4</a:t>
            </a:r>
            <a:r>
              <a:rPr lang="zh-CN" altLang="en-US" dirty="0"/>
              <a:t>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结构框架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逻辑流程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7" name="图片 6" descr="流程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930" y="58420"/>
            <a:ext cx="25527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7015" y="901700"/>
            <a:ext cx="918146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主节点（</a:t>
            </a:r>
            <a:r>
              <a:rPr lang="en-US" altLang="zh-CN"/>
              <a:t>client</a:t>
            </a:r>
            <a:r>
              <a:rPr lang="zh-CN" altLang="en-US"/>
              <a:t>连接</a:t>
            </a:r>
            <a:r>
              <a:rPr lang="en-US" altLang="zh-CN"/>
              <a:t>server</a:t>
            </a:r>
            <a:r>
              <a:rPr lang="zh-CN" altLang="en-US"/>
              <a:t>）</a:t>
            </a:r>
          </a:p>
          <a:p>
            <a:pPr indent="457200"/>
            <a:r>
              <a:rPr lang="en-US" altLang="zh-CN"/>
              <a:t>1. </a:t>
            </a:r>
            <a:r>
              <a:rPr lang="zh-CN" altLang="en-US"/>
              <a:t>主页访问：</a:t>
            </a:r>
          </a:p>
          <a:p>
            <a:pPr marL="457200" lvl="1" indent="457200"/>
            <a:r>
              <a:rPr lang="en-US" altLang="zh-CN"/>
              <a:t>client</a:t>
            </a:r>
            <a:r>
              <a:rPr lang="zh-CN" altLang="en-US"/>
              <a:t>集群维护一个队列存放用户的</a:t>
            </a:r>
            <a:r>
              <a:rPr lang="en-US" altLang="zh-CN"/>
              <a:t>url</a:t>
            </a:r>
            <a:r>
              <a:rPr lang="zh-CN" altLang="en-US"/>
              <a:t>并实现调度，</a:t>
            </a:r>
          </a:p>
          <a:p>
            <a:pPr marL="914400" lvl="2" indent="0"/>
            <a:r>
              <a:rPr lang="zh-CN" altLang="en-US"/>
              <a:t>与</a:t>
            </a:r>
            <a:r>
              <a:rPr lang="en-US" altLang="zh-CN"/>
              <a:t>server</a:t>
            </a:r>
            <a:r>
              <a:rPr lang="zh-CN" altLang="en-US"/>
              <a:t>进行</a:t>
            </a:r>
            <a:r>
              <a:rPr lang="en-US" altLang="zh-CN"/>
              <a:t>socket</a:t>
            </a:r>
            <a:r>
              <a:rPr lang="zh-CN" altLang="en-US"/>
              <a:t>通信，</a:t>
            </a:r>
            <a:r>
              <a:rPr lang="zh-CN" altLang="en-US">
                <a:sym typeface="+mn-ea"/>
              </a:rPr>
              <a:t>请求用户的</a:t>
            </a:r>
            <a:r>
              <a:rPr lang="en-US" altLang="zh-CN">
                <a:sym typeface="+mn-ea"/>
              </a:rPr>
              <a:t>url</a:t>
            </a:r>
            <a:r>
              <a:rPr lang="zh-CN" altLang="en-US">
                <a:sym typeface="+mn-ea"/>
              </a:rPr>
              <a:t>列表</a:t>
            </a:r>
            <a:endParaRPr lang="zh-CN" altLang="en-US"/>
          </a:p>
          <a:p>
            <a:pPr marL="1371600" lvl="3" indent="457200"/>
            <a:endParaRPr lang="zh-CN" altLang="en-US"/>
          </a:p>
          <a:p>
            <a:pPr marL="457200" lvl="1" indent="0"/>
            <a:r>
              <a:rPr lang="en-US" altLang="zh-CN"/>
              <a:t>2. </a:t>
            </a:r>
            <a:r>
              <a:rPr lang="zh-CN" altLang="en-US"/>
              <a:t>笔记解析：</a:t>
            </a:r>
          </a:p>
          <a:p>
            <a:pPr marL="457200" lvl="1" indent="457200"/>
            <a:r>
              <a:rPr lang="zh-CN" altLang="en-US"/>
              <a:t>滚动加载全部内容</a:t>
            </a:r>
          </a:p>
          <a:p>
            <a:pPr marL="457200" lvl="1" indent="457200"/>
            <a:r>
              <a:rPr lang="zh-CN" altLang="en-US"/>
              <a:t>获取作者信息、主页链接、图片</a:t>
            </a:r>
            <a:r>
              <a:rPr lang="en-US" altLang="zh-CN"/>
              <a:t>url</a:t>
            </a:r>
            <a:r>
              <a:rPr lang="zh-CN" altLang="en-US"/>
              <a:t>、评论信息</a:t>
            </a:r>
          </a:p>
          <a:p>
            <a:pPr marL="457200" lvl="1" indent="457200"/>
            <a:r>
              <a:rPr lang="zh-CN" altLang="en-US"/>
              <a:t>验证码处理：如访问遭遇验证码阻挡，尝试破解</a:t>
            </a:r>
          </a:p>
          <a:p>
            <a:endParaRPr lang="en-US" altLang="en-US"/>
          </a:p>
          <a:p>
            <a:pPr indent="457200"/>
            <a:r>
              <a:rPr lang="en-US" altLang="zh-CN"/>
              <a:t>3. </a:t>
            </a:r>
            <a:r>
              <a:rPr lang="zh-CN" altLang="en-US"/>
              <a:t>数据存储：</a:t>
            </a:r>
          </a:p>
          <a:p>
            <a:pPr marL="457200" lvl="1" indent="457200"/>
            <a:r>
              <a:rPr lang="zh-CN" altLang="en-US"/>
              <a:t>将爬取的结构化数据记录到统计模块</a:t>
            </a:r>
          </a:p>
          <a:p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215630" y="2691130"/>
            <a:ext cx="45650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如果队列为空：</a:t>
            </a:r>
          </a:p>
          <a:p>
            <a:pPr indent="457200"/>
            <a:r>
              <a:rPr lang="zh-CN" altLang="en-US"/>
              <a:t>则从</a:t>
            </a:r>
            <a:r>
              <a:rPr lang="en-US" altLang="zh-CN"/>
              <a:t>server</a:t>
            </a:r>
            <a:r>
              <a:rPr lang="zh-CN" altLang="en-US"/>
              <a:t>获取新用户的</a:t>
            </a:r>
            <a:r>
              <a:rPr lang="en-US" altLang="zh-CN"/>
              <a:t>url</a:t>
            </a:r>
            <a:endParaRPr lang="zh-CN" altLang="en-US"/>
          </a:p>
          <a:p>
            <a:r>
              <a:rPr lang="zh-CN" altLang="en-US"/>
              <a:t>如果不为空：</a:t>
            </a:r>
          </a:p>
          <a:p>
            <a:pPr indent="457200"/>
            <a:r>
              <a:rPr lang="zh-CN" altLang="en-US"/>
              <a:t>继续爬取他包含的所有笔记</a:t>
            </a:r>
          </a:p>
          <a:p>
            <a:pPr indent="457200"/>
            <a:r>
              <a:rPr lang="zh-CN" altLang="en-US"/>
              <a:t>然后存储数据，回传发现新的</a:t>
            </a:r>
            <a:r>
              <a:rPr lang="en-US" altLang="zh-CN"/>
              <a:t>url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维护代码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7015" y="918210"/>
            <a:ext cx="849566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/>
          </a:p>
          <a:p>
            <a:r>
              <a:rPr lang="zh-CN" altLang="en-US">
                <a:sym typeface="+mn-ea"/>
              </a:rPr>
              <a:t>主节点（</a:t>
            </a:r>
            <a:r>
              <a:rPr lang="en-US" altLang="zh-CN">
                <a:sym typeface="+mn-ea"/>
              </a:rPr>
              <a:t>client</a:t>
            </a:r>
            <a:r>
              <a:rPr lang="zh-CN" altLang="en-US">
                <a:sym typeface="+mn-ea"/>
              </a:rPr>
              <a:t>连接</a:t>
            </a:r>
            <a:r>
              <a:rPr lang="en-US" altLang="zh-CN">
                <a:sym typeface="+mn-ea"/>
              </a:rPr>
              <a:t>server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—— client.py</a:t>
            </a:r>
            <a:endParaRPr lang="zh-CN" altLang="en-US"/>
          </a:p>
          <a:p>
            <a:endParaRPr lang="zh-CN" altLang="en-US"/>
          </a:p>
          <a:p>
            <a:pPr indent="457200"/>
            <a:r>
              <a:rPr lang="zh-CN" altLang="en-US"/>
              <a:t>客户端集群</a:t>
            </a:r>
            <a:r>
              <a:rPr lang="zh-CN" altLang="en-US">
                <a:sym typeface="+mn-ea"/>
              </a:rPr>
              <a:t>启动爬虫，负责链接请求和解析</a:t>
            </a:r>
            <a:r>
              <a:rPr lang="en-US" altLang="zh-CN">
                <a:sym typeface="+mn-ea"/>
              </a:rPr>
              <a:t>—— client.py</a:t>
            </a:r>
            <a:endParaRPr lang="zh-CN" altLang="en-US"/>
          </a:p>
          <a:p>
            <a:pPr marL="457200" lvl="1" indent="457200"/>
            <a:r>
              <a:rPr lang="zh-CN" altLang="en-US"/>
              <a:t>核心爬取内容</a:t>
            </a:r>
            <a:r>
              <a:rPr lang="en-US" altLang="zh-CN"/>
              <a:t>——test.py</a:t>
            </a:r>
          </a:p>
          <a:p>
            <a:pPr marL="457200" lvl="1" indent="457200"/>
            <a:r>
              <a:rPr lang="zh-CN" altLang="en-US"/>
              <a:t>验证码破解</a:t>
            </a:r>
            <a:r>
              <a:rPr lang="en-US" altLang="zh-CN"/>
              <a:t>——</a:t>
            </a:r>
            <a:r>
              <a:rPr lang="en-US" altLang="zh-CN">
                <a:sym typeface="+mn-ea"/>
              </a:rPr>
              <a:t>captcha_solver.py</a:t>
            </a:r>
            <a:endParaRPr lang="zh-CN" altLang="en-US"/>
          </a:p>
          <a:p>
            <a:pPr marL="457200" lvl="1" indent="457200"/>
            <a:r>
              <a:rPr lang="zh-CN" altLang="en-US"/>
              <a:t>邮件通知</a:t>
            </a:r>
            <a:r>
              <a:rPr lang="en-US" altLang="zh-CN"/>
              <a:t>——</a:t>
            </a:r>
            <a:r>
              <a:rPr lang="en-US" altLang="zh-CN">
                <a:sym typeface="+mn-ea"/>
              </a:rPr>
              <a:t>zemail.py</a:t>
            </a:r>
            <a:endParaRPr lang="zh-CN" altLang="en-US"/>
          </a:p>
          <a:p>
            <a:pPr marL="457200" lvl="1" indent="457200"/>
            <a:r>
              <a:rPr lang="zh-CN" altLang="en-US"/>
              <a:t>进程守护</a:t>
            </a:r>
            <a:r>
              <a:rPr lang="en-US" altLang="zh-CN"/>
              <a:t>——</a:t>
            </a:r>
            <a:r>
              <a:rPr lang="en-US" altLang="zh-CN">
                <a:sym typeface="+mn-ea"/>
              </a:rPr>
              <a:t>restart_client.py</a:t>
            </a:r>
          </a:p>
          <a:p>
            <a:pPr marL="457200" lvl="1" indent="457200"/>
            <a:endParaRPr lang="zh-CN" altLang="en-US"/>
          </a:p>
          <a:p>
            <a:pPr indent="457200"/>
            <a:r>
              <a:rPr lang="zh-CN" altLang="en-US"/>
              <a:t>数据存储</a:t>
            </a:r>
            <a:r>
              <a:rPr lang="en-US" altLang="zh-CN"/>
              <a:t>——data.json</a:t>
            </a:r>
            <a:endParaRPr lang="zh-CN" altLang="en-US"/>
          </a:p>
          <a:p>
            <a:pPr marL="457200" lvl="1" indent="457200"/>
            <a:r>
              <a:rPr lang="zh-CN" altLang="en-US"/>
              <a:t>数据统计</a:t>
            </a:r>
            <a:r>
              <a:rPr lang="en-US" altLang="zh-CN"/>
              <a:t>——</a:t>
            </a:r>
            <a:r>
              <a:rPr lang="en-US" altLang="zh-CN">
                <a:sym typeface="+mn-ea"/>
              </a:rPr>
              <a:t>statistics.py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具体步骤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整体思路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0380" y="1124585"/>
            <a:ext cx="4064000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1. </a:t>
            </a:r>
            <a:r>
              <a:rPr lang="zh-CN" altLang="en-US"/>
              <a:t>初始化与任务获取</a:t>
            </a:r>
          </a:p>
          <a:p>
            <a:pPr>
              <a:lnSpc>
                <a:spcPct val="140000"/>
              </a:lnSpc>
            </a:pPr>
            <a:r>
              <a:rPr lang="en-US" altLang="zh-CN"/>
              <a:t>2. </a:t>
            </a:r>
            <a:r>
              <a:rPr lang="zh-CN" altLang="en-US"/>
              <a:t>笔记列表爬取</a:t>
            </a:r>
          </a:p>
          <a:p>
            <a:pPr>
              <a:lnSpc>
                <a:spcPct val="140000"/>
              </a:lnSpc>
            </a:pPr>
            <a:r>
              <a:rPr lang="en-US" altLang="zh-CN"/>
              <a:t>3. </a:t>
            </a:r>
            <a:r>
              <a:rPr lang="zh-CN" altLang="en-US"/>
              <a:t>验证码破解</a:t>
            </a:r>
          </a:p>
          <a:p>
            <a:pPr>
              <a:lnSpc>
                <a:spcPct val="140000"/>
              </a:lnSpc>
            </a:pPr>
            <a:r>
              <a:rPr lang="en-US" altLang="zh-CN"/>
              <a:t>4. </a:t>
            </a:r>
            <a:r>
              <a:rPr lang="zh-CN" altLang="en-US"/>
              <a:t>笔记详情爬取</a:t>
            </a:r>
          </a:p>
          <a:p>
            <a:pPr>
              <a:lnSpc>
                <a:spcPct val="140000"/>
              </a:lnSpc>
            </a:pPr>
            <a:r>
              <a:rPr lang="en-US" altLang="zh-CN"/>
              <a:t>5. </a:t>
            </a:r>
            <a:r>
              <a:rPr lang="zh-CN" altLang="en-US"/>
              <a:t>数据存储与任务反馈</a:t>
            </a:r>
          </a:p>
          <a:p>
            <a:pPr>
              <a:lnSpc>
                <a:spcPct val="140000"/>
              </a:lnSpc>
            </a:pPr>
            <a:r>
              <a:rPr lang="en-US" altLang="zh-CN"/>
              <a:t>6. </a:t>
            </a:r>
            <a:r>
              <a:rPr lang="zh-CN" altLang="en-US"/>
              <a:t>异常处理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1.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初始化与任务获取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6555" y="815975"/>
            <a:ext cx="88480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client.py</a:t>
            </a:r>
            <a:r>
              <a:rPr lang="zh-CN" altLang="en-US"/>
              <a:t>：客户端启动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功能：基于</a:t>
            </a:r>
            <a:r>
              <a:rPr lang="en-US" altLang="zh-CN"/>
              <a:t>socket</a:t>
            </a:r>
            <a:r>
              <a:rPr lang="zh-CN" altLang="en-US"/>
              <a:t>通信，建立客户端</a:t>
            </a:r>
            <a:r>
              <a:rPr lang="en-US" altLang="zh-CN"/>
              <a:t>-</a:t>
            </a:r>
            <a:r>
              <a:rPr lang="zh-CN" altLang="en-US"/>
              <a:t>服务器连接，获取初始用户主页</a:t>
            </a:r>
            <a:r>
              <a:rPr lang="en-US" altLang="zh-CN"/>
              <a:t>url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844040"/>
            <a:ext cx="7199630" cy="12357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27025" y="3185795"/>
            <a:ext cx="785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核心：连接到服务器</a:t>
            </a:r>
            <a:r>
              <a:rPr lang="en-US" altLang="zh-CN"/>
              <a:t> -&gt; </a:t>
            </a:r>
            <a:r>
              <a:rPr lang="zh-CN" altLang="en-US"/>
              <a:t>发送请求代码</a:t>
            </a:r>
            <a:r>
              <a:rPr lang="en-US" altLang="zh-CN"/>
              <a:t>’0’ -&gt; </a:t>
            </a:r>
            <a:r>
              <a:rPr lang="zh-CN" altLang="en-US"/>
              <a:t>接收用户主页</a:t>
            </a:r>
            <a:r>
              <a:rPr lang="en-US" altLang="zh-CN"/>
              <a:t>url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1.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初始化与任务获取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8610" y="838835"/>
            <a:ext cx="8088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如何避免频繁请求服务器？</a:t>
            </a:r>
            <a:r>
              <a:rPr lang="en-US" altLang="zh-CN"/>
              <a:t> -&gt; </a:t>
            </a:r>
            <a:r>
              <a:rPr lang="zh-CN" altLang="en-US"/>
              <a:t>本地任务队列管理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" y="1207135"/>
            <a:ext cx="6140450" cy="5746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2.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笔记列表爬取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0380" y="830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test.py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609090" y="86137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open_url(url)</a:t>
            </a:r>
            <a:r>
              <a:rPr lang="zh-CN" altLang="en-US" sz="1600"/>
              <a:t>：打开指定链接并获取页面内容。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0" y="1537970"/>
            <a:ext cx="3111500" cy="1187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2.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笔记列表爬取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0380" y="830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test.py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1285"/>
            <a:ext cx="8026400" cy="4337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39745" y="1908810"/>
            <a:ext cx="5337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解析用户主页</a:t>
            </a:r>
            <a:r>
              <a:rPr lang="en-US" altLang="zh-CN">
                <a:solidFill>
                  <a:srgbClr val="FF0000"/>
                </a:solidFill>
              </a:rPr>
              <a:t>html</a:t>
            </a:r>
          </a:p>
          <a:p>
            <a:r>
              <a:rPr lang="zh-CN" altLang="en-US">
                <a:solidFill>
                  <a:srgbClr val="FF0000"/>
                </a:solidFill>
              </a:rPr>
              <a:t>提取笔记详情页（</a:t>
            </a:r>
            <a:r>
              <a:rPr lang="en-US" altLang="zh-CN">
                <a:solidFill>
                  <a:srgbClr val="FF0000"/>
                </a:solidFill>
              </a:rPr>
              <a:t>note-item</a:t>
            </a:r>
            <a:r>
              <a:rPr lang="zh-CN" altLang="en-US">
                <a:solidFill>
                  <a:srgbClr val="FF0000"/>
                </a:solidFill>
              </a:rPr>
              <a:t>）的相对路径</a:t>
            </a:r>
          </a:p>
        </p:txBody>
      </p:sp>
      <p:sp>
        <p:nvSpPr>
          <p:cNvPr id="7" name="矩形 6"/>
          <p:cNvSpPr/>
          <p:nvPr/>
        </p:nvSpPr>
        <p:spPr>
          <a:xfrm>
            <a:off x="189230" y="2766695"/>
            <a:ext cx="4166870" cy="8470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52320" y="967740"/>
            <a:ext cx="7081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获取页面内容后，获取用户发布的所有笔记链接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77505" y="1908810"/>
            <a:ext cx="42983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这里的具体匹配规则：</a:t>
            </a:r>
          </a:p>
          <a:p>
            <a:r>
              <a:rPr lang="en-US" altLang="zh-CN"/>
              <a:t>1. </a:t>
            </a:r>
            <a:r>
              <a:rPr lang="zh-CN" altLang="en-US"/>
              <a:t>提取笔记</a:t>
            </a:r>
            <a:r>
              <a:rPr lang="en-US" altLang="zh-CN"/>
              <a:t>div/div</a:t>
            </a:r>
            <a:r>
              <a:rPr lang="zh-CN" altLang="en-US"/>
              <a:t>中的</a:t>
            </a:r>
            <a:r>
              <a:rPr lang="en-US" altLang="zh-CN"/>
              <a:t>HTML</a:t>
            </a:r>
            <a:r>
              <a:rPr lang="zh-CN" altLang="en-US"/>
              <a:t>前</a:t>
            </a:r>
            <a:r>
              <a:rPr lang="en-US" altLang="zh-CN"/>
              <a:t>100</a:t>
            </a:r>
            <a:r>
              <a:rPr lang="zh-CN" altLang="en-US"/>
              <a:t>字符</a:t>
            </a:r>
          </a:p>
          <a:p>
            <a:r>
              <a:rPr lang="en-US" altLang="zh-CN"/>
              <a:t>2. </a:t>
            </a:r>
            <a:r>
              <a:rPr lang="zh-CN" altLang="en-US"/>
              <a:t>正则匹配</a:t>
            </a:r>
            <a:r>
              <a:rPr lang="en-US" altLang="zh-CN"/>
              <a:t>  href="..." </a:t>
            </a:r>
            <a:r>
              <a:rPr lang="zh-CN" altLang="en-US"/>
              <a:t>模式</a:t>
            </a:r>
          </a:p>
          <a:p>
            <a:r>
              <a:rPr lang="en-US" altLang="zh-CN"/>
              <a:t>3. </a:t>
            </a:r>
            <a:r>
              <a:rPr lang="zh-CN" altLang="en-US"/>
              <a:t>截取</a:t>
            </a:r>
            <a:r>
              <a:rPr lang="en-US" altLang="zh-CN"/>
              <a:t>URL</a:t>
            </a:r>
            <a:r>
              <a:rPr lang="zh-CN" altLang="en-US"/>
              <a:t>部分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如片段：</a:t>
            </a:r>
          </a:p>
          <a:p>
            <a:r>
              <a:rPr lang="en-US" altLang="zh-CN"/>
              <a:t>&lt;a href="/explore/456def" class=""&gt;</a:t>
            </a:r>
          </a:p>
          <a:p>
            <a:r>
              <a:rPr lang="zh-CN" altLang="en-US"/>
              <a:t>截取</a:t>
            </a:r>
            <a:r>
              <a:rPr lang="en-US" altLang="zh-CN"/>
              <a:t>url</a:t>
            </a:r>
            <a:r>
              <a:rPr lang="zh-CN" altLang="en-US"/>
              <a:t>为：</a:t>
            </a:r>
          </a:p>
          <a:p>
            <a:r>
              <a:rPr lang="en-US" altLang="zh-CN"/>
              <a:t>/explore/456def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2.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笔记列表爬取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0380" y="830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test.py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5071" t="16647" r="65807" b="66969"/>
          <a:stretch>
            <a:fillRect/>
          </a:stretch>
        </p:blipFill>
        <p:spPr>
          <a:xfrm>
            <a:off x="253365" y="1238250"/>
            <a:ext cx="2337435" cy="710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79905" y="830580"/>
            <a:ext cx="811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验证码如何绕过？调用</a:t>
            </a:r>
            <a:r>
              <a:rPr lang="en-US" altLang="zh-CN">
                <a:sym typeface="+mn-ea"/>
              </a:rPr>
              <a:t>captcha_solver.py</a:t>
            </a:r>
            <a:r>
              <a:rPr lang="zh-CN" altLang="en-US">
                <a:sym typeface="+mn-ea"/>
              </a:rPr>
              <a:t>中的</a:t>
            </a:r>
            <a:r>
              <a:rPr lang="en-US" altLang="zh-CN"/>
              <a:t>handle_captcha</a:t>
            </a:r>
            <a:r>
              <a:rPr lang="zh-CN" altLang="en-US"/>
              <a:t>函数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35" y="2060575"/>
            <a:ext cx="7956550" cy="4654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28000" y="22352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该函数反复尝试调用</a:t>
            </a:r>
            <a:r>
              <a:rPr lang="en-US" altLang="zh-CN"/>
              <a:t>solve_captcha</a:t>
            </a:r>
            <a:r>
              <a:rPr lang="zh-CN" altLang="en-US"/>
              <a:t>函数来破解验证码，若超过最大尝试次数，则发送邮件通知失败。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3.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验证码破解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0" y="791210"/>
            <a:ext cx="811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captcha_solver.py</a:t>
            </a:r>
            <a:r>
              <a:rPr lang="zh-CN" altLang="en-US">
                <a:sym typeface="+mn-ea"/>
              </a:rPr>
              <a:t>中的</a:t>
            </a:r>
            <a:r>
              <a:rPr lang="en-US" altLang="zh-CN"/>
              <a:t>solve_captcha</a:t>
            </a:r>
            <a:r>
              <a:rPr lang="zh-CN" altLang="en-US"/>
              <a:t>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5" y="1287780"/>
            <a:ext cx="8376285" cy="625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1320" y="2333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检测异常访问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15" y="2874010"/>
            <a:ext cx="5426710" cy="20561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08395" y="316452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/>
            <a:r>
              <a:rPr lang="zh-CN" altLang="en-US" sz="1600" b="0" i="0">
                <a:solidFill>
                  <a:srgbClr val="404040"/>
                </a:solidFill>
                <a:ea typeface="+mn-lt"/>
              </a:rPr>
              <a:t>检测小红书反爬提示，触发长时间休眠</a:t>
            </a:r>
          </a:p>
        </p:txBody>
      </p:sp>
      <p:sp>
        <p:nvSpPr>
          <p:cNvPr id="13" name="矩形 12"/>
          <p:cNvSpPr/>
          <p:nvPr/>
        </p:nvSpPr>
        <p:spPr>
          <a:xfrm>
            <a:off x="240665" y="1189990"/>
            <a:ext cx="1446530" cy="754380"/>
          </a:xfrm>
          <a:prstGeom prst="rect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3.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验证码破解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0" y="791210"/>
            <a:ext cx="811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captcha_solver.py</a:t>
            </a:r>
            <a:r>
              <a:rPr lang="zh-CN" altLang="en-US">
                <a:sym typeface="+mn-ea"/>
              </a:rPr>
              <a:t>中的</a:t>
            </a:r>
            <a:r>
              <a:rPr lang="en-US" altLang="zh-CN"/>
              <a:t>solve_captcha</a:t>
            </a:r>
            <a:r>
              <a:rPr lang="zh-CN" altLang="en-US"/>
              <a:t>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5" y="1287780"/>
            <a:ext cx="8376285" cy="625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5115" y="2041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获取验证码图片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673985"/>
            <a:ext cx="8521700" cy="3143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6730" y="6229985"/>
            <a:ext cx="6041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图片</a:t>
            </a:r>
            <a:r>
              <a:rPr lang="en-US" altLang="en-US"/>
              <a:t>-&gt;</a:t>
            </a:r>
            <a:r>
              <a:rPr lang="zh-CN" altLang="en-US"/>
              <a:t>二进制流</a:t>
            </a:r>
            <a:r>
              <a:rPr lang="en-US" altLang="en-US"/>
              <a:t>-&gt;</a:t>
            </a:r>
            <a:r>
              <a:rPr lang="en-US" altLang="zh-CN"/>
              <a:t>Base64</a:t>
            </a:r>
            <a:r>
              <a:rPr lang="zh-CN" altLang="en-US"/>
              <a:t>编码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302885" y="6173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此处需要调用</a:t>
            </a:r>
            <a:r>
              <a:rPr lang="en-US" altLang="zh-CN"/>
              <a:t>PIL.Image, base64</a:t>
            </a:r>
            <a:r>
              <a:rPr lang="zh-CN" altLang="en-US"/>
              <a:t>工具</a:t>
            </a:r>
          </a:p>
        </p:txBody>
      </p:sp>
      <p:sp>
        <p:nvSpPr>
          <p:cNvPr id="13" name="矩形 12"/>
          <p:cNvSpPr/>
          <p:nvPr/>
        </p:nvSpPr>
        <p:spPr>
          <a:xfrm>
            <a:off x="1990090" y="1189990"/>
            <a:ext cx="1600835" cy="754380"/>
          </a:xfrm>
          <a:prstGeom prst="rect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3.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验证码破解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0" y="791210"/>
            <a:ext cx="811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captcha_solver.py</a:t>
            </a:r>
            <a:r>
              <a:rPr lang="zh-CN" altLang="en-US">
                <a:sym typeface="+mn-ea"/>
              </a:rPr>
              <a:t>中的</a:t>
            </a:r>
            <a:r>
              <a:rPr lang="en-US" altLang="zh-CN"/>
              <a:t>solve_captcha</a:t>
            </a:r>
            <a:r>
              <a:rPr lang="zh-CN" altLang="en-US"/>
              <a:t>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5" y="1287780"/>
            <a:ext cx="8376285" cy="625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5115" y="2041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调用角度预测</a:t>
            </a:r>
            <a:r>
              <a:rPr lang="en-US" altLang="zh-CN"/>
              <a:t>API</a:t>
            </a:r>
          </a:p>
        </p:txBody>
      </p:sp>
      <p:sp>
        <p:nvSpPr>
          <p:cNvPr id="13" name="矩形 12"/>
          <p:cNvSpPr/>
          <p:nvPr/>
        </p:nvSpPr>
        <p:spPr>
          <a:xfrm>
            <a:off x="3635375" y="1189990"/>
            <a:ext cx="1724660" cy="754380"/>
          </a:xfrm>
          <a:prstGeom prst="rect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15" y="2606675"/>
            <a:ext cx="5562600" cy="41084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03670" y="2970530"/>
            <a:ext cx="568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基于角度预测</a:t>
            </a:r>
            <a:r>
              <a:rPr lang="en-US" altLang="zh-CN"/>
              <a:t>API</a:t>
            </a:r>
            <a:r>
              <a:rPr lang="zh-CN" altLang="en-US"/>
              <a:t>，预测当前图片的预测旋转角度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69660" y="3780790"/>
            <a:ext cx="5786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api url</a:t>
            </a:r>
            <a:r>
              <a:rPr lang="zh-CN" altLang="en-US"/>
              <a:t>可参考：</a:t>
            </a:r>
            <a:endParaRPr lang="en-US" altLang="zh-CN"/>
          </a:p>
          <a:p>
            <a:r>
              <a:rPr lang="en-US" altLang="zh-CN"/>
              <a:t>http://www.detayun.cn/openapi/verify_code_identify/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3.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验证码破解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0" y="791210"/>
            <a:ext cx="811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captcha_solver.py</a:t>
            </a:r>
            <a:r>
              <a:rPr lang="zh-CN" altLang="en-US">
                <a:sym typeface="+mn-ea"/>
              </a:rPr>
              <a:t>中的</a:t>
            </a:r>
            <a:r>
              <a:rPr lang="en-US" altLang="zh-CN"/>
              <a:t>solve_captcha</a:t>
            </a:r>
            <a:r>
              <a:rPr lang="zh-CN" altLang="en-US"/>
              <a:t>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5" y="1287780"/>
            <a:ext cx="8376285" cy="625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5115" y="2041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/>
              <a:t>拟人滑块操作</a:t>
            </a:r>
          </a:p>
        </p:txBody>
      </p:sp>
      <p:sp>
        <p:nvSpPr>
          <p:cNvPr id="13" name="矩形 12"/>
          <p:cNvSpPr/>
          <p:nvPr/>
        </p:nvSpPr>
        <p:spPr>
          <a:xfrm>
            <a:off x="5539105" y="1189990"/>
            <a:ext cx="1539240" cy="754380"/>
          </a:xfrm>
          <a:prstGeom prst="rect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65" y="2491105"/>
            <a:ext cx="5842000" cy="41973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82435" y="257365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关键点：</a:t>
            </a:r>
          </a:p>
          <a:p>
            <a:r>
              <a:rPr lang="en-US" altLang="zh-CN"/>
              <a:t>1. </a:t>
            </a:r>
            <a:r>
              <a:rPr lang="zh-CN" altLang="en-US"/>
              <a:t>速度随机化</a:t>
            </a:r>
            <a:r>
              <a:rPr lang="en-US" altLang="zh-CN"/>
              <a:t> random.uniform</a:t>
            </a:r>
          </a:p>
          <a:p>
            <a:r>
              <a:rPr lang="en-US" altLang="zh-CN"/>
              <a:t>2. </a:t>
            </a:r>
            <a:r>
              <a:rPr lang="zh-CN" altLang="en-US"/>
              <a:t>移动分段</a:t>
            </a:r>
            <a:r>
              <a:rPr lang="en-US" altLang="zh-CN"/>
              <a:t>+</a:t>
            </a:r>
            <a:r>
              <a:rPr lang="zh-CN" altLang="en-US"/>
              <a:t>乱序</a:t>
            </a:r>
            <a:r>
              <a:rPr lang="en-US" altLang="zh-CN"/>
              <a:t> shuffle</a:t>
            </a:r>
          </a:p>
          <a:p>
            <a:r>
              <a:rPr lang="en-US" altLang="zh-CN"/>
              <a:t>3. </a:t>
            </a:r>
            <a:r>
              <a:rPr lang="zh-CN" altLang="en-US"/>
              <a:t>终点产生抖动，模拟人类的颤抖犹豫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4.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笔记详情爬取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1310" y="843915"/>
            <a:ext cx="6258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test.py</a:t>
            </a:r>
            <a:r>
              <a:rPr lang="zh-CN" altLang="en-US"/>
              <a:t>的</a:t>
            </a:r>
            <a:r>
              <a:rPr lang="en-US" altLang="zh-CN"/>
              <a:t>get_note_page_info_outer</a:t>
            </a:r>
            <a:r>
              <a:rPr lang="zh-CN" altLang="en-US"/>
              <a:t>函数，打开笔记详情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" y="1461770"/>
            <a:ext cx="6153150" cy="4667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54445" y="1666240"/>
            <a:ext cx="56959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关键点：</a:t>
            </a:r>
            <a:br>
              <a:rPr lang="zh-CN" altLang="en-US"/>
            </a:br>
            <a:r>
              <a:rPr lang="en-US" altLang="zh-CN"/>
              <a:t>1. </a:t>
            </a:r>
            <a:r>
              <a:rPr lang="zh-CN" altLang="en-US"/>
              <a:t>如遇到验证码，采取相同措施绕过</a:t>
            </a:r>
          </a:p>
          <a:p>
            <a:r>
              <a:rPr lang="en-US" altLang="zh-CN"/>
              <a:t>2. </a:t>
            </a:r>
            <a:r>
              <a:rPr lang="zh-CN" altLang="en-US"/>
              <a:t>首先滚动加载所有评论，确保动态内容完全加载</a:t>
            </a:r>
          </a:p>
          <a:p>
            <a:r>
              <a:rPr lang="en-US" altLang="zh-CN"/>
              <a:t>3. </a:t>
            </a:r>
            <a:r>
              <a:rPr lang="zh-CN" altLang="en-US"/>
              <a:t>结构化提取页面信息</a:t>
            </a:r>
          </a:p>
          <a:p>
            <a:pPr indent="457200"/>
            <a:r>
              <a:rPr lang="en-US" altLang="zh-CN"/>
              <a:t>get_user_profile</a:t>
            </a:r>
            <a:r>
              <a:rPr lang="zh-CN" altLang="en-US"/>
              <a:t>：用户信息</a:t>
            </a:r>
            <a:endParaRPr lang="en-US" altLang="zh-CN"/>
          </a:p>
          <a:p>
            <a:pPr indent="457200"/>
            <a:r>
              <a:rPr lang="en-US" altLang="zh-CN"/>
              <a:t>get_img_url</a:t>
            </a:r>
            <a:r>
              <a:rPr lang="zh-CN" altLang="en-US"/>
              <a:t>：图片</a:t>
            </a:r>
            <a:endParaRPr lang="en-US" altLang="zh-CN"/>
          </a:p>
          <a:p>
            <a:pPr indent="457200"/>
            <a:r>
              <a:rPr lang="en-US" altLang="zh-CN"/>
              <a:t>get_review</a:t>
            </a:r>
            <a:r>
              <a:rPr lang="zh-CN" altLang="en-US"/>
              <a:t>：评论</a:t>
            </a:r>
            <a:endParaRPr lang="en-US" altLang="zh-CN"/>
          </a:p>
          <a:p>
            <a:pPr indent="457200"/>
            <a:r>
              <a:rPr lang="en-US" altLang="zh-CN"/>
              <a:t>get_content</a:t>
            </a:r>
            <a:r>
              <a:rPr lang="zh-CN" altLang="en-US"/>
              <a:t>：标题、正文、标签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4.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笔记详情爬取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1310" y="843915"/>
            <a:ext cx="6258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以</a:t>
            </a:r>
            <a:r>
              <a:rPr lang="en-US" altLang="zh-CN">
                <a:sym typeface="+mn-ea"/>
              </a:rPr>
              <a:t>get_user_profile</a:t>
            </a:r>
            <a:r>
              <a:rPr lang="zh-CN" altLang="en-US">
                <a:sym typeface="+mn-ea"/>
              </a:rPr>
              <a:t>为例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0" y="1346200"/>
            <a:ext cx="3860800" cy="19621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62855" y="14547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基本思路为肉眼分析网页关键</a:t>
            </a:r>
            <a:r>
              <a:rPr lang="en-US" altLang="zh-CN"/>
              <a:t>tag</a:t>
            </a:r>
            <a:r>
              <a:rPr lang="zh-CN" altLang="en-US"/>
              <a:t>所在位置</a:t>
            </a:r>
          </a:p>
          <a:p>
            <a:r>
              <a:rPr lang="zh-CN" altLang="en-US"/>
              <a:t>然后采用</a:t>
            </a:r>
            <a:r>
              <a:rPr lang="en-US" altLang="zh-CN"/>
              <a:t>re</a:t>
            </a:r>
            <a:r>
              <a:rPr lang="zh-CN" altLang="en-US"/>
              <a:t>正则化匹配相应内容。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5.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数据存储与任务反馈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4030" y="905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将读取笔记数据存储在</a:t>
            </a:r>
            <a:r>
              <a:rPr lang="en-US" altLang="zh-CN"/>
              <a:t>data.json</a:t>
            </a:r>
            <a:r>
              <a:rPr lang="zh-CN" altLang="en-US"/>
              <a:t>中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90" y="1469390"/>
            <a:ext cx="4616450" cy="8953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2435" y="2958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如何实现持续爬取？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" y="3429000"/>
            <a:ext cx="7626350" cy="2311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9105" y="5992495"/>
            <a:ext cx="8218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从当前笔记页发现新的用户主页</a:t>
            </a:r>
            <a:r>
              <a:rPr lang="en-US" altLang="zh-CN"/>
              <a:t>url</a:t>
            </a:r>
            <a:r>
              <a:rPr lang="zh-CN" altLang="en-US"/>
              <a:t>，反馈给服务器实现持续的闭环爬取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6. 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异常处理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2905" y="833755"/>
            <a:ext cx="8075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连续多次破解验证码失败时，触发失败报警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295275"/>
            <a:ext cx="2457450" cy="1162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175" y="636905"/>
            <a:ext cx="3848100" cy="762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l="516" r="5362"/>
          <a:stretch>
            <a:fillRect/>
          </a:stretch>
        </p:blipFill>
        <p:spPr>
          <a:xfrm>
            <a:off x="227965" y="1932940"/>
            <a:ext cx="7178040" cy="4673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1135" y="1612900"/>
            <a:ext cx="562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zmail.py</a:t>
            </a:r>
            <a:r>
              <a:rPr lang="zh-CN" altLang="en-US"/>
              <a:t>设置报警接收的邮箱账号和授权码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实验任务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实验</a:t>
              </a:r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任务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1035" y="1122045"/>
            <a:ext cx="10147992" cy="5098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dirty="0"/>
              <a:t>参考</a:t>
            </a:r>
            <a:r>
              <a:rPr lang="en-US" altLang="zh-CN" dirty="0"/>
              <a:t>ppt</a:t>
            </a:r>
            <a:r>
              <a:rPr lang="zh-CN" altLang="en-US" dirty="0"/>
              <a:t>，自行选择下面两个任务之一：</a:t>
            </a:r>
            <a:endParaRPr lang="en-SG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）自行实现</a:t>
            </a:r>
            <a:r>
              <a:rPr lang="zh-CN" altLang="en-US" b="1" dirty="0"/>
              <a:t>小红书笔记</a:t>
            </a:r>
            <a:r>
              <a:rPr lang="zh-CN" altLang="en-US" dirty="0"/>
              <a:t>爬取：爬取</a:t>
            </a:r>
            <a:r>
              <a:rPr lang="en-US" altLang="zh-CN" dirty="0"/>
              <a:t>100+</a:t>
            </a:r>
            <a:r>
              <a:rPr lang="zh-CN" altLang="en-US" dirty="0"/>
              <a:t>用户累计 </a:t>
            </a:r>
            <a:r>
              <a:rPr lang="en-US" altLang="zh-CN" dirty="0"/>
              <a:t>5000 </a:t>
            </a:r>
            <a:r>
              <a:rPr lang="zh-CN" altLang="en-US" dirty="0"/>
              <a:t>条小红书帖子内容，其中视频内容帖子不低于 </a:t>
            </a:r>
            <a:r>
              <a:rPr lang="en-US" altLang="zh-CN" dirty="0"/>
              <a:t>50 </a:t>
            </a:r>
            <a:r>
              <a:rPr lang="zh-CN" altLang="en-US" dirty="0"/>
              <a:t>条。</a:t>
            </a:r>
            <a:br>
              <a:rPr lang="en-SG" altLang="zh-CN" dirty="0"/>
            </a:br>
            <a:endParaRPr lang="en-SG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）实现</a:t>
            </a:r>
            <a:r>
              <a:rPr lang="zh-CN" altLang="en-US" b="1" dirty="0"/>
              <a:t>微博</a:t>
            </a:r>
            <a:r>
              <a:rPr lang="zh-CN" altLang="en-US" dirty="0"/>
              <a:t>平台评论数据爬取：爬取</a:t>
            </a:r>
            <a:r>
              <a:rPr lang="en-US" altLang="zh-CN" dirty="0"/>
              <a:t>100+</a:t>
            </a:r>
            <a:r>
              <a:rPr lang="zh-CN" altLang="en-US" dirty="0"/>
              <a:t>用户累计 </a:t>
            </a:r>
            <a:r>
              <a:rPr lang="en-US" altLang="zh-CN" dirty="0"/>
              <a:t>5000 </a:t>
            </a:r>
            <a:r>
              <a:rPr lang="zh-CN" altLang="en-US" dirty="0"/>
              <a:t>条微博内容，其中视频内容帖子不低于 </a:t>
            </a:r>
            <a:r>
              <a:rPr lang="en-US" altLang="zh-CN" dirty="0"/>
              <a:t>50 </a:t>
            </a:r>
            <a:r>
              <a:rPr lang="zh-CN" altLang="en-US" dirty="0"/>
              <a:t>条。</a:t>
            </a:r>
            <a:endParaRPr lang="en-SG" altLang="zh-CN" dirty="0"/>
          </a:p>
          <a:p>
            <a:pPr>
              <a:lnSpc>
                <a:spcPct val="140000"/>
              </a:lnSpc>
            </a:pPr>
            <a:endParaRPr lang="en-SG" altLang="zh-CN" dirty="0"/>
          </a:p>
          <a:p>
            <a:pPr>
              <a:lnSpc>
                <a:spcPct val="140000"/>
              </a:lnSpc>
            </a:pPr>
            <a:r>
              <a:rPr lang="ja-JP" altLang="en-US" b="1" dirty="0"/>
              <a:t>本周</a:t>
            </a:r>
            <a:r>
              <a:rPr lang="zh-CN" altLang="en-US" b="1"/>
              <a:t>三（北京时间</a:t>
            </a:r>
            <a:r>
              <a:rPr lang="en-US" altLang="zh-CN" b="1"/>
              <a:t>2026</a:t>
            </a:r>
            <a:r>
              <a:rPr lang="zh-CN" altLang="en-US" b="1" dirty="0"/>
              <a:t>年</a:t>
            </a:r>
            <a:r>
              <a:rPr lang="en-US" altLang="zh-CN" b="1" dirty="0"/>
              <a:t>7</a:t>
            </a:r>
            <a:r>
              <a:rPr lang="zh-CN" altLang="en-US" b="1" dirty="0"/>
              <a:t>月</a:t>
            </a:r>
            <a:r>
              <a:rPr lang="en-US" altLang="zh-CN" b="1" dirty="0"/>
              <a:t>8</a:t>
            </a:r>
            <a:r>
              <a:rPr lang="zh-CN" altLang="en-US" b="1" dirty="0"/>
              <a:t>日下午</a:t>
            </a:r>
            <a:r>
              <a:rPr lang="en-US" altLang="ja-JP" b="1" dirty="0"/>
              <a:t>2</a:t>
            </a:r>
            <a:r>
              <a:rPr lang="ja-JP" altLang="en-US" b="1" dirty="0"/>
              <a:t>点</a:t>
            </a:r>
            <a:r>
              <a:rPr lang="zh-CN" altLang="en-US" b="1" dirty="0"/>
              <a:t>）</a:t>
            </a:r>
            <a:r>
              <a:rPr lang="ja-JP" altLang="en-US" b="1" dirty="0"/>
              <a:t>截止</a:t>
            </a:r>
            <a:r>
              <a:rPr lang="zh-CN" altLang="en-US" b="1" dirty="0"/>
              <a:t>！！！</a:t>
            </a:r>
            <a:endParaRPr lang="en-SG" altLang="ja-JP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文件打包名为</a:t>
            </a:r>
            <a:r>
              <a:rPr lang="zh-CN" altLang="en-US" dirty="0"/>
              <a:t>“</a:t>
            </a:r>
            <a:r>
              <a:rPr lang="ja-JP" altLang="en-US" dirty="0"/>
              <a:t>姓名</a:t>
            </a:r>
            <a:r>
              <a:rPr lang="en-US" altLang="zh-CN" dirty="0"/>
              <a:t>+</a:t>
            </a:r>
            <a:r>
              <a:rPr lang="zh-CN" altLang="en-US" dirty="0"/>
              <a:t>学号“（包含代码实现、爬取的数据、实验报告），其中实验报告命名为”社媒爬取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学号”</a:t>
            </a:r>
            <a:endParaRPr lang="ja-JP" altLang="en-US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发送到 </a:t>
            </a:r>
            <a:r>
              <a:rPr lang="en-US" altLang="ja-JP" dirty="0"/>
              <a:t>whuzym@whu.edu.cn</a:t>
            </a:r>
            <a:r>
              <a:rPr lang="en-SG" altLang="zh-CN" dirty="0"/>
              <a:t> </a:t>
            </a:r>
            <a:endParaRPr lang="en-US" altLang="ja-JP" dirty="0"/>
          </a:p>
          <a:p>
            <a:pPr>
              <a:lnSpc>
                <a:spcPct val="140000"/>
              </a:lnSpc>
            </a:pPr>
            <a:br>
              <a:rPr lang="en-SG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cyNTc2YzlhNDFjMjczNzQwNDkxZWVkNTdhNjA3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1323</Words>
  <Application>Microsoft Office PowerPoint</Application>
  <PresentationFormat>宽屏</PresentationFormat>
  <Paragraphs>199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Alibaba PuHuiTi R</vt:lpstr>
      <vt:lpstr>JetBrains Mono</vt:lpstr>
      <vt:lpstr>Stencil Std</vt:lpstr>
      <vt:lpstr>等线</vt:lpstr>
      <vt:lpstr>等线 Light</vt:lpstr>
      <vt:lpstr>方正黑体简体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Junhao ZHANG</cp:lastModifiedBy>
  <cp:revision>266</cp:revision>
  <dcterms:created xsi:type="dcterms:W3CDTF">2023-10-28T05:40:00Z</dcterms:created>
  <dcterms:modified xsi:type="dcterms:W3CDTF">2026-07-06T08:01:29Z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8AEF69F717F259CFE39E3C65F5086652</vt:lpwstr>
  </property>
  <property fmtid="{D5CDD505-2E9C-101B-9397-08002B2CF9AE}" pid="3" name="KSOProductBuildVer">
    <vt:lpwstr>2052-12.1.0.21171</vt:lpwstr>
  </property>
</Properties>
</file>